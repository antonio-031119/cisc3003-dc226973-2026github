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83" autoAdjust="0"/>
  </p:normalViewPr>
  <p:slideViewPr>
    <p:cSldViewPr snapToGrid="0">
      <p:cViewPr varScale="1">
        <p:scale>
          <a:sx n="84" d="100"/>
          <a:sy n="84" d="100"/>
        </p:scale>
        <p:origin x="432"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1.jpe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8.sv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5.jpeg"/><Relationship Id="rId7"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6.svg"/><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5.jpeg"/><Relationship Id="rId7"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18.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5.jpe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9.jpeg"/><Relationship Id="rId4" Type="http://schemas.openxmlformats.org/officeDocument/2006/relationships/image" Target="../media/image28.sv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32.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31.svg"/><Relationship Id="rId4" Type="http://schemas.openxmlformats.org/officeDocument/2006/relationships/image" Target="../media/image30.svg"/></Relationships>
</file>

<file path=ppt/slides/_rels/slide1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6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1016000" y="1905000"/>
            <a:ext cx="10160000" cy="1016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4800" b="1" dirty="0">
                <a:solidFill>
                  <a:srgbClr val="FFFFFF"/>
                </a:solidFill>
                <a:latin typeface="Noto Sans SC"/>
                <a:ea typeface="Noto Sans SC"/>
                <a:cs typeface="Noto Sans SC"/>
                <a:sym typeface="Noto Sans SC"/>
              </a:rPr>
              <a:t>Individual</a:t>
            </a:r>
            <a:r>
              <a:rPr lang="en-US" sz="4800" b="1" dirty="0">
                <a:solidFill>
                  <a:srgbClr val="FFFFFF"/>
                </a:solidFill>
                <a:latin typeface="Noto Sans SC"/>
                <a:ea typeface="Noto Sans SC"/>
                <a:cs typeface="Noto Sans SC"/>
                <a:sym typeface="Noto Sans SC"/>
              </a:rPr>
              <a:t> Digital Story</a:t>
            </a:r>
            <a:endParaRPr lang="en-US" sz="1100" dirty="0"/>
          </a:p>
        </p:txBody>
      </p:sp>
      <p:sp>
        <p:nvSpPr>
          <p:cNvPr id="4" name="AutoShape 4"/>
          <p:cNvSpPr/>
          <p:nvPr/>
        </p:nvSpPr>
        <p:spPr>
          <a:xfrm>
            <a:off x="1016000" y="3302000"/>
            <a:ext cx="10160000" cy="889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dirty="0">
                <a:solidFill>
                  <a:srgbClr val="2DD4BF"/>
                </a:solidFill>
                <a:latin typeface="Noto Sans SC"/>
                <a:ea typeface="Noto Sans SC"/>
                <a:cs typeface="Noto Sans SC"/>
                <a:sym typeface="Noto Sans SC"/>
              </a:rPr>
              <a:t>Project Contributions and Achievements Presentation</a:t>
            </a:r>
            <a:endParaRPr lang="en-US" sz="1100" dirty="0"/>
          </a:p>
        </p:txBody>
      </p:sp>
      <p:sp>
        <p:nvSpPr>
          <p:cNvPr id="5" name="AutoShape 5"/>
          <p:cNvSpPr/>
          <p:nvPr/>
        </p:nvSpPr>
        <p:spPr>
          <a:xfrm>
            <a:off x="1016000" y="4699000"/>
            <a:ext cx="3175000" cy="1524000"/>
          </a:xfrm>
          <a:prstGeom prst="roundRect">
            <a:avLst>
              <a:gd name="adj" fmla="val 6666"/>
            </a:avLst>
          </a:prstGeom>
          <a:solidFill>
            <a:srgbClr val="1E293B">
              <a:alpha val="7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5016500"/>
            <a:ext cx="508000" cy="508000"/>
          </a:xfrm>
          <a:prstGeom prst="rect">
            <a:avLst/>
          </a:prstGeom>
        </p:spPr>
      </p:pic>
      <p:sp>
        <p:nvSpPr>
          <p:cNvPr id="7" name="AutoShape 7"/>
          <p:cNvSpPr/>
          <p:nvPr/>
        </p:nvSpPr>
        <p:spPr>
          <a:xfrm>
            <a:off x="2032000" y="4953000"/>
            <a:ext cx="190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CBD5E1"/>
                </a:solidFill>
                <a:latin typeface="Noto Sans SC"/>
                <a:ea typeface="Noto Sans SC"/>
                <a:cs typeface="Noto Sans SC"/>
                <a:sym typeface="Noto Sans SC"/>
              </a:rPr>
              <a:t> Presenter</a:t>
            </a:r>
            <a:endParaRPr lang="en-US" sz="1100" dirty="0"/>
          </a:p>
          <a:p>
            <a:pPr indent="0" algn="l">
              <a:lnSpc>
                <a:spcPct val="125000"/>
              </a:lnSpc>
            </a:pPr>
            <a:r>
              <a:rPr lang="en-US" sz="2200" b="1" i="0" u="none" strike="noStrike" dirty="0">
                <a:solidFill>
                  <a:srgbClr val="FFFFFF"/>
                </a:solidFill>
                <a:latin typeface="Noto Sans SC"/>
                <a:ea typeface="Noto Sans SC"/>
                <a:cs typeface="Noto Sans SC"/>
                <a:sym typeface="Noto Sans SC"/>
              </a:rPr>
              <a:t>Antonio</a:t>
            </a:r>
          </a:p>
        </p:txBody>
      </p:sp>
      <p:sp>
        <p:nvSpPr>
          <p:cNvPr id="8" name="AutoShape 8"/>
          <p:cNvSpPr/>
          <p:nvPr/>
        </p:nvSpPr>
        <p:spPr>
          <a:xfrm>
            <a:off x="4508500" y="4699000"/>
            <a:ext cx="3175000" cy="1524000"/>
          </a:xfrm>
          <a:prstGeom prst="roundRect">
            <a:avLst>
              <a:gd name="adj" fmla="val 6666"/>
            </a:avLst>
          </a:prstGeom>
          <a:solidFill>
            <a:srgbClr val="1E293B">
              <a:alpha val="7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62500" y="5016500"/>
            <a:ext cx="508000" cy="508000"/>
          </a:xfrm>
          <a:prstGeom prst="rect">
            <a:avLst/>
          </a:prstGeom>
        </p:spPr>
      </p:pic>
      <p:sp>
        <p:nvSpPr>
          <p:cNvPr id="10" name="AutoShape 10"/>
          <p:cNvSpPr/>
          <p:nvPr/>
        </p:nvSpPr>
        <p:spPr>
          <a:xfrm>
            <a:off x="5524500" y="4953000"/>
            <a:ext cx="190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CBD5E1"/>
                </a:solidFill>
                <a:latin typeface="Noto Sans SC"/>
                <a:ea typeface="Noto Sans SC"/>
                <a:cs typeface="Noto Sans SC"/>
                <a:sym typeface="Noto Sans SC"/>
              </a:rPr>
              <a:t> Group</a:t>
            </a:r>
            <a:endParaRPr lang="en-US" sz="1100" dirty="0"/>
          </a:p>
          <a:p>
            <a:pPr indent="0" algn="l">
              <a:lnSpc>
                <a:spcPct val="125000"/>
              </a:lnSpc>
            </a:pPr>
            <a:r>
              <a:rPr lang="en-US" sz="2200" b="1" dirty="0">
                <a:solidFill>
                  <a:srgbClr val="FFFFFF"/>
                </a:solidFill>
                <a:latin typeface="Noto Sans SC"/>
                <a:ea typeface="Noto Sans SC"/>
                <a:cs typeface="Noto Sans SC"/>
                <a:sym typeface="Noto Sans SC"/>
              </a:rPr>
              <a:t>T</a:t>
            </a:r>
            <a:r>
              <a:rPr lang="en-US" altLang="zh-CN" sz="2200" b="1" dirty="0">
                <a:solidFill>
                  <a:srgbClr val="FFFFFF"/>
                </a:solidFill>
                <a:latin typeface="Noto Sans SC"/>
                <a:ea typeface="Noto Sans SC"/>
                <a:cs typeface="Noto Sans SC"/>
                <a:sym typeface="Noto Sans SC"/>
              </a:rPr>
              <a:t>eam</a:t>
            </a:r>
            <a:r>
              <a:rPr lang="en-US" sz="2200" b="1" i="0" u="none" strike="noStrike" dirty="0">
                <a:solidFill>
                  <a:srgbClr val="FFFFFF"/>
                </a:solidFill>
                <a:latin typeface="Noto Sans SC"/>
                <a:ea typeface="Noto Sans SC"/>
                <a:cs typeface="Noto Sans SC"/>
                <a:sym typeface="Noto Sans SC"/>
              </a:rPr>
              <a:t> </a:t>
            </a:r>
            <a:r>
              <a:rPr lang="en-US" sz="2200" b="1" dirty="0">
                <a:solidFill>
                  <a:srgbClr val="FFFFFF"/>
                </a:solidFill>
                <a:latin typeface="Noto Sans SC"/>
                <a:ea typeface="Noto Sans SC"/>
                <a:cs typeface="Noto Sans SC"/>
                <a:sym typeface="Noto Sans SC"/>
              </a:rPr>
              <a:t>06</a:t>
            </a:r>
            <a:endParaRPr lang="en-US" sz="2200" b="1" i="0" u="none" strike="noStrike" dirty="0">
              <a:solidFill>
                <a:srgbClr val="FFFFFF"/>
              </a:solidFill>
              <a:latin typeface="Noto Sans SC"/>
              <a:ea typeface="Noto Sans SC"/>
              <a:cs typeface="Noto Sans SC"/>
              <a:sym typeface="Noto Sans SC"/>
            </a:endParaRPr>
          </a:p>
        </p:txBody>
      </p:sp>
      <p:sp>
        <p:nvSpPr>
          <p:cNvPr id="11" name="AutoShape 11"/>
          <p:cNvSpPr/>
          <p:nvPr/>
        </p:nvSpPr>
        <p:spPr>
          <a:xfrm>
            <a:off x="8001000" y="4699000"/>
            <a:ext cx="3175000" cy="1524000"/>
          </a:xfrm>
          <a:prstGeom prst="roundRect">
            <a:avLst>
              <a:gd name="adj" fmla="val 6666"/>
            </a:avLst>
          </a:prstGeom>
          <a:solidFill>
            <a:srgbClr val="1E293B">
              <a:alpha val="7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5016500"/>
            <a:ext cx="508000" cy="508000"/>
          </a:xfrm>
          <a:prstGeom prst="rect">
            <a:avLst/>
          </a:prstGeom>
        </p:spPr>
      </p:pic>
      <p:sp>
        <p:nvSpPr>
          <p:cNvPr id="13" name="AutoShape 13"/>
          <p:cNvSpPr/>
          <p:nvPr/>
        </p:nvSpPr>
        <p:spPr>
          <a:xfrm>
            <a:off x="9017000" y="4953000"/>
            <a:ext cx="190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CBD5E1"/>
                </a:solidFill>
                <a:latin typeface="Noto Sans SC"/>
                <a:ea typeface="Noto Sans SC"/>
                <a:cs typeface="Noto Sans SC"/>
                <a:sym typeface="Noto Sans SC"/>
              </a:rPr>
              <a:t> Date</a:t>
            </a:r>
            <a:endParaRPr lang="en-US" sz="1100" dirty="0"/>
          </a:p>
          <a:p>
            <a:pPr indent="0" algn="l">
              <a:lnSpc>
                <a:spcPct val="125000"/>
              </a:lnSpc>
            </a:pPr>
            <a:r>
              <a:rPr lang="en-US" sz="2200" b="1" i="0" u="none" strike="noStrike" dirty="0">
                <a:solidFill>
                  <a:srgbClr val="FFFFFF"/>
                </a:solidFill>
                <a:latin typeface="Noto Sans SC"/>
                <a:ea typeface="Noto Sans SC"/>
                <a:cs typeface="Noto Sans SC"/>
                <a:sym typeface="Noto Sans SC"/>
              </a:rPr>
              <a:t>2026.05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dirty="0">
                <a:solidFill>
                  <a:srgbClr val="1F2937"/>
                </a:solidFill>
                <a:latin typeface="Noto Sans SC"/>
                <a:ea typeface="Noto Sans SC"/>
                <a:sym typeface="Noto Sans SC"/>
              </a:rPr>
              <a:t>Menu</a:t>
            </a:r>
            <a:endParaRPr lang="en-US" sz="1100" dirty="0"/>
          </a:p>
        </p:txBody>
      </p:sp>
      <p:sp>
        <p:nvSpPr>
          <p:cNvPr id="3" name="AutoShape 3"/>
          <p:cNvSpPr/>
          <p:nvPr/>
        </p:nvSpPr>
        <p:spPr>
          <a:xfrm>
            <a:off x="762000" y="1905000"/>
            <a:ext cx="2540000" cy="4191000"/>
          </a:xfrm>
          <a:prstGeom prst="roundRect">
            <a:avLst>
              <a:gd name="adj" fmla="val 60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200" y="2286000"/>
            <a:ext cx="863600" cy="863600"/>
          </a:xfrm>
          <a:prstGeom prst="rect">
            <a:avLst/>
          </a:prstGeom>
        </p:spPr>
      </p:pic>
      <p:sp>
        <p:nvSpPr>
          <p:cNvPr id="5" name="AutoShape 5"/>
          <p:cNvSpPr/>
          <p:nvPr/>
        </p:nvSpPr>
        <p:spPr>
          <a:xfrm>
            <a:off x="889000" y="3429000"/>
            <a:ext cx="228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1F2937"/>
                </a:solidFill>
                <a:latin typeface="Noto Sans SC"/>
                <a:ea typeface="Noto Sans SC"/>
                <a:cs typeface="Noto Sans SC"/>
                <a:sym typeface="Noto Sans SC"/>
              </a:rPr>
              <a:t>01 </a:t>
            </a:r>
            <a:r>
              <a:rPr lang="en-US" sz="2000" b="1" dirty="0">
                <a:solidFill>
                  <a:srgbClr val="1F2937"/>
                </a:solidFill>
                <a:latin typeface="Noto Sans SC"/>
                <a:ea typeface="Noto Sans SC"/>
                <a:cs typeface="Noto Sans SC"/>
                <a:sym typeface="Noto Sans SC"/>
              </a:rPr>
              <a:t>Project Roles and Responsibilities</a:t>
            </a:r>
            <a:endParaRPr lang="en-US" sz="1100" dirty="0"/>
          </a:p>
        </p:txBody>
      </p:sp>
      <p:sp>
        <p:nvSpPr>
          <p:cNvPr id="6" name="AutoShape 6"/>
          <p:cNvSpPr/>
          <p:nvPr/>
        </p:nvSpPr>
        <p:spPr>
          <a:xfrm>
            <a:off x="952500" y="4318000"/>
            <a:ext cx="2159000" cy="152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dirty="0">
                <a:solidFill>
                  <a:srgbClr val="4B5563"/>
                </a:solidFill>
                <a:latin typeface="Noto Sans SC"/>
                <a:ea typeface="Noto Sans SC"/>
                <a:cs typeface="Noto Sans SC"/>
                <a:sym typeface="Noto Sans SC"/>
              </a:rPr>
              <a:t>Explain the core position of an individual within the team, as well as the key tasks and responsibilities they are responsible for.</a:t>
            </a:r>
            <a:endParaRPr lang="en-US" sz="1100" dirty="0"/>
          </a:p>
        </p:txBody>
      </p:sp>
      <p:sp>
        <p:nvSpPr>
          <p:cNvPr id="7" name="AutoShape 7"/>
          <p:cNvSpPr/>
          <p:nvPr/>
        </p:nvSpPr>
        <p:spPr>
          <a:xfrm>
            <a:off x="3556000" y="1905000"/>
            <a:ext cx="2540000" cy="4191000"/>
          </a:xfrm>
          <a:prstGeom prst="roundRect">
            <a:avLst>
              <a:gd name="adj" fmla="val 60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94200" y="2286000"/>
            <a:ext cx="863600" cy="863600"/>
          </a:xfrm>
          <a:prstGeom prst="rect">
            <a:avLst/>
          </a:prstGeom>
        </p:spPr>
      </p:pic>
      <p:sp>
        <p:nvSpPr>
          <p:cNvPr id="9" name="AutoShape 9"/>
          <p:cNvSpPr/>
          <p:nvPr/>
        </p:nvSpPr>
        <p:spPr>
          <a:xfrm>
            <a:off x="3683000" y="3429000"/>
            <a:ext cx="228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1F2937"/>
                </a:solidFill>
                <a:latin typeface="Noto Sans SC"/>
                <a:ea typeface="Noto Sans SC"/>
                <a:cs typeface="Noto Sans SC"/>
                <a:sym typeface="Noto Sans SC"/>
              </a:rPr>
              <a:t>02 Achievements Presentation</a:t>
            </a:r>
            <a:endParaRPr lang="en-US" sz="1100" dirty="0"/>
          </a:p>
        </p:txBody>
      </p:sp>
      <p:sp>
        <p:nvSpPr>
          <p:cNvPr id="10" name="AutoShape 10"/>
          <p:cNvSpPr/>
          <p:nvPr/>
        </p:nvSpPr>
        <p:spPr>
          <a:xfrm>
            <a:off x="3746500" y="4318000"/>
            <a:ext cx="2159000" cy="1651000"/>
          </a:xfrm>
          <a:prstGeom prst="rect">
            <a:avLst/>
          </a:prstGeom>
          <a:noFill/>
          <a:ln w="12700" cap="flat" cmpd="sng">
            <a:noFill/>
            <a:prstDash val="solid"/>
            <a:round/>
          </a:ln>
        </p:spPr>
        <p:txBody>
          <a:bodyPr vert="horz" wrap="square" lIns="0" tIns="0" rIns="0" bIns="0" rtlCol="0" anchor="t" anchorCtr="0"/>
          <a:lstStyle/>
          <a:p>
            <a:pPr indent="0" algn="ctr">
              <a:lnSpc>
                <a:spcPct val="133333"/>
              </a:lnSpc>
              <a:defRPr/>
            </a:pPr>
            <a:r>
              <a:rPr lang="en-US" sz="1100" dirty="0">
                <a:solidFill>
                  <a:srgbClr val="4B5563"/>
                </a:solidFill>
                <a:latin typeface="Noto Sans SC"/>
                <a:ea typeface="Noto Sans SC"/>
                <a:cs typeface="Noto Sans SC"/>
                <a:sym typeface="Noto Sans SC"/>
              </a:rPr>
              <a:t>• Online project deployment and verification demonstration• Backend core business logic code implementation• Database architecture design and management</a:t>
            </a:r>
            <a:endParaRPr lang="en-US" sz="1100" dirty="0"/>
          </a:p>
        </p:txBody>
      </p:sp>
      <p:sp>
        <p:nvSpPr>
          <p:cNvPr id="11" name="AutoShape 11"/>
          <p:cNvSpPr/>
          <p:nvPr/>
        </p:nvSpPr>
        <p:spPr>
          <a:xfrm>
            <a:off x="6350000" y="1905000"/>
            <a:ext cx="2540000" cy="4191000"/>
          </a:xfrm>
          <a:prstGeom prst="roundRect">
            <a:avLst>
              <a:gd name="adj" fmla="val 60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88200" y="2286000"/>
            <a:ext cx="863600" cy="863600"/>
          </a:xfrm>
          <a:prstGeom prst="rect">
            <a:avLst/>
          </a:prstGeom>
        </p:spPr>
      </p:pic>
      <p:sp>
        <p:nvSpPr>
          <p:cNvPr id="13" name="AutoShape 13"/>
          <p:cNvSpPr/>
          <p:nvPr/>
        </p:nvSpPr>
        <p:spPr>
          <a:xfrm>
            <a:off x="6477000" y="3429000"/>
            <a:ext cx="228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1F2937"/>
                </a:solidFill>
                <a:latin typeface="Noto Sans SC"/>
                <a:ea typeface="Noto Sans SC"/>
                <a:cs typeface="Noto Sans SC"/>
                <a:sym typeface="Noto Sans SC"/>
              </a:rPr>
              <a:t>03 </a:t>
            </a:r>
            <a:r>
              <a:rPr lang="en-US" sz="2000" b="1" dirty="0">
                <a:solidFill>
                  <a:srgbClr val="1F2937"/>
                </a:solidFill>
                <a:latin typeface="Noto Sans SC"/>
                <a:ea typeface="Noto Sans SC"/>
                <a:cs typeface="Noto Sans SC"/>
                <a:sym typeface="Noto Sans SC"/>
              </a:rPr>
              <a:t>Project Collaboration and Contribution</a:t>
            </a:r>
            <a:endParaRPr lang="en-US" sz="1100" dirty="0"/>
          </a:p>
        </p:txBody>
      </p:sp>
      <p:sp>
        <p:nvSpPr>
          <p:cNvPr id="14" name="AutoShape 14"/>
          <p:cNvSpPr/>
          <p:nvPr/>
        </p:nvSpPr>
        <p:spPr>
          <a:xfrm>
            <a:off x="6540500" y="4318000"/>
            <a:ext cx="2159000" cy="152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dirty="0">
                <a:solidFill>
                  <a:srgbClr val="4B5563"/>
                </a:solidFill>
                <a:latin typeface="Noto Sans SC"/>
                <a:ea typeface="Noto Sans SC"/>
                <a:cs typeface="Noto Sans SC"/>
                <a:sym typeface="Noto Sans SC"/>
              </a:rPr>
              <a:t>Introduce the experience of cross-departmental joint testing, as well as the comprehensive support and assistance provided for the project's deployment and launch. </a:t>
            </a:r>
            <a:r>
              <a:rPr lang="en-US" sz="1100" b="0" i="0" u="none" strike="noStrike" dirty="0">
                <a:solidFill>
                  <a:srgbClr val="4B5563"/>
                </a:solidFill>
                <a:latin typeface="Noto Sans SC"/>
                <a:ea typeface="Noto Sans SC"/>
                <a:cs typeface="Noto Sans SC"/>
                <a:sym typeface="Noto Sans SC"/>
              </a:rPr>
              <a:t>。</a:t>
            </a:r>
            <a:endParaRPr lang="en-US" sz="1100" dirty="0"/>
          </a:p>
        </p:txBody>
      </p:sp>
      <p:sp>
        <p:nvSpPr>
          <p:cNvPr id="15" name="AutoShape 15"/>
          <p:cNvSpPr/>
          <p:nvPr/>
        </p:nvSpPr>
        <p:spPr>
          <a:xfrm>
            <a:off x="9144000" y="1905000"/>
            <a:ext cx="2540000" cy="4191000"/>
          </a:xfrm>
          <a:prstGeom prst="roundRect">
            <a:avLst>
              <a:gd name="adj" fmla="val 60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82200" y="2286000"/>
            <a:ext cx="863600" cy="863600"/>
          </a:xfrm>
          <a:prstGeom prst="rect">
            <a:avLst/>
          </a:prstGeom>
        </p:spPr>
      </p:pic>
      <p:sp>
        <p:nvSpPr>
          <p:cNvPr id="17" name="AutoShape 17"/>
          <p:cNvSpPr/>
          <p:nvPr/>
        </p:nvSpPr>
        <p:spPr>
          <a:xfrm>
            <a:off x="9271000" y="3429000"/>
            <a:ext cx="228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1F2937"/>
                </a:solidFill>
                <a:latin typeface="Noto Sans SC"/>
                <a:ea typeface="Noto Sans SC"/>
                <a:cs typeface="Noto Sans SC"/>
                <a:sym typeface="Noto Sans SC"/>
              </a:rPr>
              <a:t>04 </a:t>
            </a:r>
            <a:r>
              <a:rPr lang="en-US" sz="2000" b="1" dirty="0">
                <a:solidFill>
                  <a:srgbClr val="1F2937"/>
                </a:solidFill>
                <a:latin typeface="Noto Sans SC"/>
                <a:ea typeface="Noto Sans SC"/>
                <a:cs typeface="Noto Sans SC"/>
                <a:sym typeface="Noto Sans SC"/>
              </a:rPr>
              <a:t>Summary and Acknowledgements</a:t>
            </a:r>
            <a:endParaRPr lang="en-US" sz="1100" dirty="0"/>
          </a:p>
        </p:txBody>
      </p:sp>
      <p:sp>
        <p:nvSpPr>
          <p:cNvPr id="18" name="AutoShape 18"/>
          <p:cNvSpPr/>
          <p:nvPr/>
        </p:nvSpPr>
        <p:spPr>
          <a:xfrm>
            <a:off x="9334500" y="4318000"/>
            <a:ext cx="2159000" cy="152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200" dirty="0">
                <a:solidFill>
                  <a:srgbClr val="4B5563"/>
                </a:solidFill>
                <a:latin typeface="Noto Sans SC"/>
                <a:ea typeface="Noto Sans SC"/>
                <a:cs typeface="Noto Sans SC"/>
                <a:sym typeface="Noto Sans SC"/>
              </a:rPr>
              <a:t>Review the core contributions and value that the individual has made throughout the entire project cycle, express gratitude and look forward to the future. </a:t>
            </a:r>
            <a:r>
              <a:rPr lang="en-US" sz="1200" b="0" i="0" u="none" strike="noStrike" dirty="0">
                <a:solidFill>
                  <a:srgbClr val="4B5563"/>
                </a:solidFill>
                <a:latin typeface="Noto Sans SC"/>
                <a:ea typeface="Noto Sans SC"/>
                <a:cs typeface="Noto Sans SC"/>
                <a:sym typeface="Noto Sans SC"/>
              </a:rPr>
              <a: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dirty="0">
                <a:solidFill>
                  <a:srgbClr val="1F2937"/>
                </a:solidFill>
                <a:latin typeface="Noto Sans SC"/>
                <a:ea typeface="Noto Sans SC"/>
                <a:cs typeface="Noto Sans SC"/>
                <a:sym typeface="Noto Sans SC"/>
              </a:rPr>
              <a:t>01 My tasks and responsibilities</a:t>
            </a:r>
            <a:endParaRPr lang="en-US" sz="1100" noProof="0" dirty="0"/>
          </a:p>
        </p:txBody>
      </p:sp>
      <p:sp>
        <p:nvSpPr>
          <p:cNvPr id="3" name="AutoShape 3"/>
          <p:cNvSpPr/>
          <p:nvPr/>
        </p:nvSpPr>
        <p:spPr>
          <a:xfrm>
            <a:off x="762000" y="1651000"/>
            <a:ext cx="5842000" cy="1524000"/>
          </a:xfrm>
          <a:prstGeom prst="roundRect">
            <a:avLst>
              <a:gd name="adj" fmla="val 10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lang="en-US" noProof="0" dirty="0"/>
          </a:p>
        </p:txBody>
      </p:sp>
      <p:sp>
        <p:nvSpPr>
          <p:cNvPr id="4" name="AutoShape 4"/>
          <p:cNvSpPr/>
          <p:nvPr/>
        </p:nvSpPr>
        <p:spPr>
          <a:xfrm>
            <a:off x="762000" y="1905000"/>
            <a:ext cx="76200" cy="1016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lang="en-US" noProof="0" dirty="0"/>
          </a:p>
        </p:txBody>
      </p:sp>
      <p:sp>
        <p:nvSpPr>
          <p:cNvPr id="5" name="AutoShape 5"/>
          <p:cNvSpPr/>
          <p:nvPr/>
        </p:nvSpPr>
        <p:spPr>
          <a:xfrm>
            <a:off x="1143000" y="1841500"/>
            <a:ext cx="4953000" cy="1143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dirty="0">
                <a:solidFill>
                  <a:srgbClr val="2DD4BF"/>
                </a:solidFill>
                <a:latin typeface="Noto Sans SC"/>
                <a:ea typeface="Noto Sans SC"/>
                <a:cs typeface="Noto Sans SC"/>
                <a:sym typeface="Noto Sans SC"/>
              </a:rPr>
              <a:t>Team roles</a:t>
            </a:r>
          </a:p>
          <a:p>
            <a:pPr>
              <a:lnSpc>
                <a:spcPct val="125000"/>
              </a:lnSpc>
              <a:defRPr/>
            </a:pPr>
            <a:r>
              <a:rPr lang="en-US" dirty="0">
                <a:solidFill>
                  <a:srgbClr val="4B5563"/>
                </a:solidFill>
                <a:latin typeface="Noto Sans SC"/>
                <a:ea typeface="Noto Sans SC"/>
                <a:cs typeface="Noto Sans SC"/>
                <a:sym typeface="Noto Sans SC"/>
              </a:rPr>
              <a:t>Back-end development and database management, as the core technical member of the team, responsible for the implementation of core business logic and the construction of the underlying data architecture.</a:t>
            </a:r>
            <a:endParaRPr lang="en-US" sz="1400" b="0" i="0" u="none" strike="noStrike" noProof="0" dirty="0">
              <a:solidFill>
                <a:srgbClr val="4B5563"/>
              </a:solidFill>
              <a:latin typeface="Noto Sans SC"/>
              <a:ea typeface="Noto Sans SC"/>
              <a:cs typeface="Noto Sans SC"/>
              <a:sym typeface="Noto Sans SC"/>
            </a:endParaRPr>
          </a:p>
        </p:txBody>
      </p:sp>
      <p:sp>
        <p:nvSpPr>
          <p:cNvPr id="6" name="AutoShape 6"/>
          <p:cNvSpPr/>
          <p:nvPr/>
        </p:nvSpPr>
        <p:spPr>
          <a:xfrm>
            <a:off x="762000" y="3429000"/>
            <a:ext cx="5842000" cy="1524000"/>
          </a:xfrm>
          <a:prstGeom prst="roundRect">
            <a:avLst>
              <a:gd name="adj" fmla="val 10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lang="en-US" noProof="0" dirty="0"/>
          </a:p>
        </p:txBody>
      </p:sp>
      <p:sp>
        <p:nvSpPr>
          <p:cNvPr id="7" name="AutoShape 7"/>
          <p:cNvSpPr/>
          <p:nvPr/>
        </p:nvSpPr>
        <p:spPr>
          <a:xfrm>
            <a:off x="762000" y="3683000"/>
            <a:ext cx="76200" cy="1016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lang="en-US" noProof="0" dirty="0"/>
          </a:p>
        </p:txBody>
      </p:sp>
      <p:sp>
        <p:nvSpPr>
          <p:cNvPr id="8" name="AutoShape 8"/>
          <p:cNvSpPr/>
          <p:nvPr/>
        </p:nvSpPr>
        <p:spPr>
          <a:xfrm>
            <a:off x="1143000" y="3619500"/>
            <a:ext cx="4953000" cy="1143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dirty="0">
                <a:solidFill>
                  <a:srgbClr val="2DD4BF"/>
                </a:solidFill>
                <a:latin typeface="Noto Sans SC"/>
                <a:ea typeface="Noto Sans SC"/>
                <a:cs typeface="Noto Sans SC"/>
                <a:sym typeface="Noto Sans SC"/>
              </a:rPr>
              <a:t>Exclusive Missions</a:t>
            </a:r>
          </a:p>
          <a:p>
            <a:pPr>
              <a:lnSpc>
                <a:spcPct val="125000"/>
              </a:lnSpc>
              <a:defRPr/>
            </a:pPr>
            <a:r>
              <a:rPr lang="en-US" dirty="0">
                <a:solidFill>
                  <a:srgbClr val="4B5563"/>
                </a:solidFill>
                <a:latin typeface="Noto Sans SC"/>
                <a:ea typeface="Noto Sans SC"/>
                <a:cs typeface="Noto Sans SC"/>
                <a:sym typeface="Noto Sans SC"/>
              </a:rPr>
              <a:t>Responsible for the development, debugging and optimization of back-end interfaces, as well as the design, construction and maintenance of databases. This is a personal core task assigned to me by my instructor.</a:t>
            </a:r>
            <a:endParaRPr lang="en-US" sz="1400" b="0" i="0" u="none" strike="noStrike" noProof="0" dirty="0">
              <a:solidFill>
                <a:srgbClr val="4B5563"/>
              </a:solidFill>
              <a:latin typeface="Noto Sans SC"/>
              <a:ea typeface="Noto Sans SC"/>
              <a:cs typeface="Noto Sans SC"/>
              <a:sym typeface="Noto Sans SC"/>
            </a:endParaRPr>
          </a:p>
        </p:txBody>
      </p:sp>
      <p:sp>
        <p:nvSpPr>
          <p:cNvPr id="9" name="AutoShape 9"/>
          <p:cNvSpPr/>
          <p:nvPr/>
        </p:nvSpPr>
        <p:spPr>
          <a:xfrm>
            <a:off x="762000" y="5080000"/>
            <a:ext cx="5842000" cy="1397000"/>
          </a:xfrm>
          <a:prstGeom prst="roundRect">
            <a:avLst>
              <a:gd name="adj" fmla="val 1090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lang="en-US" noProof="0" dirty="0"/>
          </a:p>
        </p:txBody>
      </p:sp>
      <p:sp>
        <p:nvSpPr>
          <p:cNvPr id="10" name="AutoShape 10"/>
          <p:cNvSpPr/>
          <p:nvPr/>
        </p:nvSpPr>
        <p:spPr>
          <a:xfrm>
            <a:off x="762000" y="5270500"/>
            <a:ext cx="76200" cy="1016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lang="en-US" noProof="0" dirty="0"/>
          </a:p>
        </p:txBody>
      </p:sp>
      <p:sp>
        <p:nvSpPr>
          <p:cNvPr id="11" name="AutoShape 11"/>
          <p:cNvSpPr/>
          <p:nvPr/>
        </p:nvSpPr>
        <p:spPr>
          <a:xfrm>
            <a:off x="1143000" y="5270500"/>
            <a:ext cx="4953000" cy="1016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dirty="0">
                <a:solidFill>
                  <a:srgbClr val="2DD4BF"/>
                </a:solidFill>
                <a:latin typeface="Noto Sans SC"/>
                <a:ea typeface="Noto Sans SC"/>
                <a:cs typeface="Noto Sans SC"/>
                <a:sym typeface="Noto Sans SC"/>
              </a:rPr>
              <a:t>Work results</a:t>
            </a:r>
            <a:endParaRPr lang="en-US" sz="1100" noProof="0" dirty="0"/>
          </a:p>
          <a:p>
            <a:pPr>
              <a:lnSpc>
                <a:spcPct val="116666"/>
              </a:lnSpc>
            </a:pPr>
            <a:r>
              <a:rPr lang="en-US" sz="1200" dirty="0">
                <a:solidFill>
                  <a:srgbClr val="4B5563"/>
                </a:solidFill>
                <a:latin typeface="Noto Sans SC"/>
                <a:ea typeface="Noto Sans SC"/>
                <a:cs typeface="Noto Sans SC"/>
                <a:sym typeface="Noto Sans SC"/>
              </a:rPr>
              <a:t>The high-quality completion of the development and deployment of all responsible modules ensures the stable operation of the system data layer and business layer, and provides solid technical support for the smooth delivery of the project.</a:t>
            </a:r>
            <a:endParaRPr lang="en-US" sz="1200" b="0" i="0" u="none" strike="noStrike" noProof="0" dirty="0">
              <a:solidFill>
                <a:srgbClr val="4B5563"/>
              </a:solidFill>
              <a:latin typeface="Noto Sans SC"/>
              <a:ea typeface="Noto Sans SC"/>
              <a:cs typeface="Noto Sans SC"/>
              <a:sym typeface="Noto Sans SC"/>
            </a:endParaRPr>
          </a:p>
        </p:txBody>
      </p:sp>
      <p:sp>
        <p:nvSpPr>
          <p:cNvPr id="12" name="AutoShape 12"/>
          <p:cNvSpPr/>
          <p:nvPr/>
        </p:nvSpPr>
        <p:spPr>
          <a:xfrm>
            <a:off x="7112000" y="1778000"/>
            <a:ext cx="4318000" cy="2032000"/>
          </a:xfrm>
          <a:prstGeom prst="roundRect">
            <a:avLst>
              <a:gd name="adj" fmla="val 75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lang="en-US" noProof="0" dirty="0"/>
          </a:p>
        </p:txBody>
      </p:sp>
      <p:pic>
        <p:nvPicPr>
          <p:cNvPr id="13" name="Picture 13"/>
          <p:cNvPicPr>
            <a:picLocks noChangeAspect="1"/>
          </p:cNvPicPr>
          <p:nvPr/>
        </p:nvPicPr>
        <p:blipFill>
          <a:blip r:embed="rId4"/>
          <a:srcRect/>
          <a:stretch>
            <a:fillRect/>
          </a:stretch>
        </p:blipFill>
        <p:spPr>
          <a:xfrm>
            <a:off x="7366000" y="2032000"/>
            <a:ext cx="1270000" cy="1270000"/>
          </a:xfrm>
          <a:prstGeom prst="rect">
            <a:avLst/>
          </a:prstGeom>
          <a:noFill/>
          <a:ln w="25400" cap="flat" cmpd="sng">
            <a:noFill/>
            <a:prstDash val="solid"/>
            <a:round/>
          </a:ln>
        </p:spPr>
      </p:pic>
      <p:sp>
        <p:nvSpPr>
          <p:cNvPr id="14" name="AutoShape 14"/>
          <p:cNvSpPr/>
          <p:nvPr/>
        </p:nvSpPr>
        <p:spPr>
          <a:xfrm>
            <a:off x="8890000" y="2095500"/>
            <a:ext cx="2286000" cy="1143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800" b="1" dirty="0">
                <a:solidFill>
                  <a:srgbClr val="1F2937"/>
                </a:solidFill>
                <a:latin typeface="Noto Sans SC"/>
                <a:ea typeface="Noto Sans SC"/>
                <a:cs typeface="Noto Sans SC"/>
                <a:sym typeface="Noto Sans SC"/>
              </a:rPr>
              <a:t>Back-end development</a:t>
            </a:r>
          </a:p>
          <a:p>
            <a:pPr>
              <a:lnSpc>
                <a:spcPct val="125000"/>
              </a:lnSpc>
              <a:defRPr/>
            </a:pPr>
            <a:r>
              <a:rPr lang="en-US" sz="1200" dirty="0">
                <a:solidFill>
                  <a:srgbClr val="6B7280"/>
                </a:solidFill>
                <a:latin typeface="Noto Sans SC"/>
                <a:ea typeface="Noto Sans SC"/>
                <a:cs typeface="Noto Sans SC"/>
                <a:sym typeface="Noto Sans SC"/>
              </a:rPr>
              <a:t>Business logic is implemented based on the Java/Spring Boot framework to ensure stable and reliable system functions.</a:t>
            </a:r>
            <a:endParaRPr lang="en-US" sz="1200" b="0" i="0" u="none" strike="noStrike" noProof="0" dirty="0">
              <a:solidFill>
                <a:srgbClr val="6B7280"/>
              </a:solidFill>
              <a:latin typeface="Noto Sans SC"/>
              <a:ea typeface="Noto Sans SC"/>
              <a:cs typeface="Noto Sans SC"/>
              <a:sym typeface="Noto Sans SC"/>
            </a:endParaRPr>
          </a:p>
        </p:txBody>
      </p:sp>
      <p:sp>
        <p:nvSpPr>
          <p:cNvPr id="15" name="AutoShape 15"/>
          <p:cNvSpPr/>
          <p:nvPr/>
        </p:nvSpPr>
        <p:spPr>
          <a:xfrm>
            <a:off x="7112000" y="4191000"/>
            <a:ext cx="4318000" cy="2032000"/>
          </a:xfrm>
          <a:prstGeom prst="roundRect">
            <a:avLst>
              <a:gd name="adj" fmla="val 75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lang="en-US" noProof="0" dirty="0"/>
          </a:p>
        </p:txBody>
      </p:sp>
      <p:pic>
        <p:nvPicPr>
          <p:cNvPr id="16" name="Picture 16"/>
          <p:cNvPicPr>
            <a:picLocks noChangeAspect="1"/>
          </p:cNvPicPr>
          <p:nvPr/>
        </p:nvPicPr>
        <p:blipFill>
          <a:blip r:embed="rId5"/>
          <a:srcRect/>
          <a:stretch>
            <a:fillRect/>
          </a:stretch>
        </p:blipFill>
        <p:spPr>
          <a:xfrm>
            <a:off x="7366000" y="4445000"/>
            <a:ext cx="1270000" cy="1270000"/>
          </a:xfrm>
          <a:prstGeom prst="rect">
            <a:avLst/>
          </a:prstGeom>
          <a:noFill/>
          <a:ln w="25400" cap="flat" cmpd="sng">
            <a:noFill/>
            <a:prstDash val="solid"/>
            <a:round/>
          </a:ln>
        </p:spPr>
      </p:pic>
      <p:sp>
        <p:nvSpPr>
          <p:cNvPr id="17" name="AutoShape 17"/>
          <p:cNvSpPr/>
          <p:nvPr/>
        </p:nvSpPr>
        <p:spPr>
          <a:xfrm>
            <a:off x="8890000" y="4508500"/>
            <a:ext cx="2286000" cy="1143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800" b="1" dirty="0">
                <a:solidFill>
                  <a:srgbClr val="1F2937"/>
                </a:solidFill>
                <a:latin typeface="Noto Sans SC"/>
                <a:ea typeface="Noto Sans SC"/>
                <a:cs typeface="Noto Sans SC"/>
                <a:sym typeface="Noto Sans SC"/>
              </a:rPr>
              <a:t>Database management</a:t>
            </a:r>
          </a:p>
          <a:p>
            <a:pPr>
              <a:lnSpc>
                <a:spcPct val="125000"/>
              </a:lnSpc>
              <a:defRPr/>
            </a:pPr>
            <a:r>
              <a:rPr lang="en-US" sz="1200" dirty="0">
                <a:solidFill>
                  <a:srgbClr val="6B7280"/>
                </a:solidFill>
                <a:latin typeface="Noto Sans SC"/>
                <a:ea typeface="Noto Sans SC"/>
                <a:cs typeface="Noto Sans SC"/>
                <a:sym typeface="Noto Sans SC"/>
              </a:rPr>
              <a:t>Responsible for MySQL database table structure design and SQL optimization to ensure secure data storage and efficient reading and writing.</a:t>
            </a:r>
            <a:endParaRPr lang="en-US" sz="1200" b="0" i="0" u="none" strike="noStrike" noProof="0" dirty="0">
              <a:solidFill>
                <a:srgbClr val="6B7280"/>
              </a:solidFill>
              <a:latin typeface="Noto Sans SC"/>
              <a:ea typeface="Noto Sans SC"/>
              <a:cs typeface="Noto Sans SC"/>
              <a:sym typeface="Noto Sans S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9144"/>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dirty="0">
                <a:solidFill>
                  <a:srgbClr val="1F2937"/>
                </a:solidFill>
                <a:latin typeface="Noto Sans SC"/>
                <a:ea typeface="Noto Sans SC"/>
                <a:cs typeface="Noto Sans SC"/>
                <a:sym typeface="Noto Sans SC"/>
              </a:rPr>
              <a:t>02 Achievement Demonstration (1): Successful deployment and verification of online projects</a:t>
            </a:r>
            <a:endParaRPr lang="en-US" sz="1100" dirty="0"/>
          </a:p>
        </p:txBody>
      </p:sp>
      <p:sp>
        <p:nvSpPr>
          <p:cNvPr id="4" name="AutoShape 4"/>
          <p:cNvSpPr/>
          <p:nvPr/>
        </p:nvSpPr>
        <p:spPr>
          <a:xfrm>
            <a:off x="762000" y="1778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68500" y="2159000"/>
            <a:ext cx="889000" cy="889000"/>
          </a:xfrm>
          <a:prstGeom prst="rect">
            <a:avLst/>
          </a:prstGeom>
        </p:spPr>
      </p:pic>
      <p:sp>
        <p:nvSpPr>
          <p:cNvPr id="6" name="AutoShape 6"/>
          <p:cNvSpPr/>
          <p:nvPr/>
        </p:nvSpPr>
        <p:spPr>
          <a:xfrm>
            <a:off x="1016000" y="3302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dirty="0">
                <a:solidFill>
                  <a:srgbClr val="1F2937"/>
                </a:solidFill>
                <a:latin typeface="Noto Sans SC"/>
                <a:ea typeface="Noto Sans SC"/>
                <a:cs typeface="Noto Sans SC"/>
                <a:sym typeface="Noto Sans SC"/>
              </a:rPr>
              <a:t>Presentation Objectives</a:t>
            </a:r>
            <a:endParaRPr lang="en-US" sz="1100" dirty="0"/>
          </a:p>
        </p:txBody>
      </p:sp>
      <p:sp>
        <p:nvSpPr>
          <p:cNvPr id="7" name="AutoShape 7"/>
          <p:cNvSpPr/>
          <p:nvPr/>
        </p:nvSpPr>
        <p:spPr>
          <a:xfrm>
            <a:off x="1016000" y="4318000"/>
            <a:ext cx="2794000" cy="1143000"/>
          </a:xfrm>
          <a:prstGeom prst="rect">
            <a:avLst/>
          </a:prstGeom>
          <a:noFill/>
          <a:ln w="12700" cap="flat" cmpd="sng">
            <a:noFill/>
            <a:prstDash val="solid"/>
            <a:round/>
          </a:ln>
        </p:spPr>
        <p:txBody>
          <a:bodyPr vert="horz" wrap="square" lIns="0" tIns="0" rIns="0" bIns="0" rtlCol="0" anchor="t" anchorCtr="0"/>
          <a:lstStyle/>
          <a:p>
            <a:pPr indent="0" algn="ctr">
              <a:lnSpc>
                <a:spcPct val="116666"/>
              </a:lnSpc>
              <a:defRPr/>
            </a:pPr>
            <a:r>
              <a:rPr lang="en-US" dirty="0">
                <a:solidFill>
                  <a:srgbClr val="4B5563"/>
                </a:solidFill>
                <a:latin typeface="Noto Sans SC"/>
                <a:ea typeface="Noto Sans SC"/>
                <a:cs typeface="Noto Sans SC"/>
                <a:sym typeface="Noto Sans SC"/>
              </a:rPr>
              <a:t>The demonstration project has passed rigorous technical testing and has been successfully deployed and launched into the official server environment.</a:t>
            </a:r>
            <a:endParaRPr lang="en-US" sz="1100" dirty="0"/>
          </a:p>
        </p:txBody>
      </p:sp>
      <p:sp>
        <p:nvSpPr>
          <p:cNvPr id="8" name="AutoShape 8"/>
          <p:cNvSpPr/>
          <p:nvPr/>
        </p:nvSpPr>
        <p:spPr>
          <a:xfrm>
            <a:off x="4445000" y="1778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1500" y="2159000"/>
            <a:ext cx="889000" cy="889000"/>
          </a:xfrm>
          <a:prstGeom prst="rect">
            <a:avLst/>
          </a:prstGeom>
        </p:spPr>
      </p:pic>
      <p:sp>
        <p:nvSpPr>
          <p:cNvPr id="10" name="AutoShape 10"/>
          <p:cNvSpPr/>
          <p:nvPr/>
        </p:nvSpPr>
        <p:spPr>
          <a:xfrm>
            <a:off x="4699000" y="3302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a:solidFill>
                  <a:srgbClr val="1F2937"/>
                </a:solidFill>
                <a:latin typeface="Noto Sans SC"/>
                <a:ea typeface="Noto Sans SC"/>
                <a:cs typeface="Noto Sans SC"/>
                <a:sym typeface="Noto Sans SC"/>
              </a:rPr>
              <a:t>Presentation method</a:t>
            </a:r>
            <a:endParaRPr lang="en-US" sz="1100" dirty="0"/>
          </a:p>
        </p:txBody>
      </p:sp>
      <p:sp>
        <p:nvSpPr>
          <p:cNvPr id="11" name="AutoShape 11"/>
          <p:cNvSpPr/>
          <p:nvPr/>
        </p:nvSpPr>
        <p:spPr>
          <a:xfrm>
            <a:off x="4699000" y="4318000"/>
            <a:ext cx="2794000" cy="1143000"/>
          </a:xfrm>
          <a:prstGeom prst="rect">
            <a:avLst/>
          </a:prstGeom>
          <a:noFill/>
          <a:ln w="12700" cap="flat" cmpd="sng">
            <a:noFill/>
            <a:prstDash val="solid"/>
            <a:round/>
          </a:ln>
        </p:spPr>
        <p:txBody>
          <a:bodyPr vert="horz" wrap="square" lIns="0" tIns="0" rIns="0" bIns="0" rtlCol="0" anchor="t" anchorCtr="0"/>
          <a:lstStyle/>
          <a:p>
            <a:pPr indent="0" algn="ctr">
              <a:lnSpc>
                <a:spcPct val="116666"/>
              </a:lnSpc>
              <a:defRPr/>
            </a:pPr>
            <a:r>
              <a:rPr lang="en-US">
                <a:solidFill>
                  <a:srgbClr val="4B5563"/>
                </a:solidFill>
                <a:latin typeface="Noto Sans SC"/>
                <a:ea typeface="Noto Sans SC"/>
                <a:cs typeface="Noto Sans SC"/>
                <a:sym typeface="Noto Sans SC"/>
              </a:rPr>
              <a:t>Open the online access link of the team's deployed projects directly in the browser to visualize the real effect.</a:t>
            </a:r>
            <a:endParaRPr lang="en-US" sz="1100" dirty="0"/>
          </a:p>
        </p:txBody>
      </p:sp>
      <p:sp>
        <p:nvSpPr>
          <p:cNvPr id="12" name="AutoShape 12"/>
          <p:cNvSpPr/>
          <p:nvPr/>
        </p:nvSpPr>
        <p:spPr>
          <a:xfrm>
            <a:off x="8128000" y="1778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500" y="2159000"/>
            <a:ext cx="889000" cy="889000"/>
          </a:xfrm>
          <a:prstGeom prst="rect">
            <a:avLst/>
          </a:prstGeom>
        </p:spPr>
      </p:pic>
      <p:sp>
        <p:nvSpPr>
          <p:cNvPr id="14" name="AutoShape 14"/>
          <p:cNvSpPr/>
          <p:nvPr/>
        </p:nvSpPr>
        <p:spPr>
          <a:xfrm>
            <a:off x="8382000" y="3302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a:solidFill>
                  <a:srgbClr val="1F2937"/>
                </a:solidFill>
                <a:latin typeface="Noto Sans SC"/>
                <a:ea typeface="Noto Sans SC"/>
                <a:cs typeface="Noto Sans SC"/>
                <a:sym typeface="Noto Sans SC"/>
              </a:rPr>
              <a:t>Key notes</a:t>
            </a:r>
            <a:endParaRPr lang="en-US" sz="1100" dirty="0"/>
          </a:p>
        </p:txBody>
      </p:sp>
      <p:sp>
        <p:nvSpPr>
          <p:cNvPr id="15" name="AutoShape 15"/>
          <p:cNvSpPr/>
          <p:nvPr/>
        </p:nvSpPr>
        <p:spPr>
          <a:xfrm>
            <a:off x="8382000" y="4191000"/>
            <a:ext cx="2794000" cy="1397000"/>
          </a:xfrm>
          <a:prstGeom prst="rect">
            <a:avLst/>
          </a:prstGeom>
          <a:noFill/>
          <a:ln w="12700" cap="flat" cmpd="sng">
            <a:noFill/>
            <a:prstDash val="solid"/>
            <a:round/>
          </a:ln>
        </p:spPr>
        <p:txBody>
          <a:bodyPr vert="horz" wrap="square" lIns="0" tIns="0" rIns="0" bIns="0" rtlCol="0" anchor="t" anchorCtr="0"/>
          <a:lstStyle/>
          <a:p>
            <a:pPr>
              <a:lnSpc>
                <a:spcPct val="125000"/>
              </a:lnSpc>
              <a:defRPr/>
            </a:pPr>
            <a:r>
              <a:rPr lang="en-US" sz="1100">
                <a:solidFill>
                  <a:srgbClr val="4B5563"/>
                </a:solidFill>
                <a:latin typeface="Noto Sans SC"/>
                <a:ea typeface="Noto Sans SC"/>
                <a:cs typeface="Noto Sans SC"/>
                <a:sym typeface="Noto Sans SC"/>
              </a:rPr>
              <a:t>• Direct access to project systems via public network servers
• Functions operate completely normally without the local environment
• Verification that the project is available for production</a:t>
            </a:r>
            <a:endParaRPr lang="en-US" sz="1100" b="0" i="0" u="none" strike="noStrike" dirty="0">
              <a:solidFill>
                <a:srgbClr val="4B5563"/>
              </a:solidFill>
              <a:latin typeface="Noto Sans SC"/>
              <a:ea typeface="Noto Sans SC"/>
              <a:cs typeface="Noto Sans SC"/>
              <a:sym typeface="Noto Sans S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600" b="1" i="0" u="none" strike="noStrike">
                <a:solidFill>
                  <a:srgbClr val="1F2937"/>
                </a:solidFill>
                <a:latin typeface="Noto Sans SC"/>
                <a:ea typeface="Noto Sans SC"/>
                <a:cs typeface="Noto Sans SC"/>
                <a:sym typeface="Noto Sans SC"/>
              </a:rPr>
              <a:t>Online Function Demo: Everything Works</a:t>
            </a:r>
            <a:endParaRPr lang="en-US" sz="1100"/>
          </a:p>
        </p:txBody>
      </p:sp>
      <p:sp>
        <p:nvSpPr>
          <p:cNvPr id="4" name="AutoShape 4"/>
          <p:cNvSpPr/>
          <p:nvPr/>
        </p:nvSpPr>
        <p:spPr>
          <a:xfrm>
            <a:off x="762000" y="1778000"/>
            <a:ext cx="2540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200" y="2032000"/>
            <a:ext cx="863600" cy="863600"/>
          </a:xfrm>
          <a:prstGeom prst="rect">
            <a:avLst/>
          </a:prstGeom>
        </p:spPr>
      </p:pic>
      <p:sp>
        <p:nvSpPr>
          <p:cNvPr id="6" name="AutoShape 6"/>
          <p:cNvSpPr/>
          <p:nvPr/>
        </p:nvSpPr>
        <p:spPr>
          <a:xfrm>
            <a:off x="762000" y="3048000"/>
            <a:ext cx="254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a:ea typeface="Noto Sans SC"/>
                <a:cs typeface="Noto Sans SC"/>
                <a:sym typeface="Noto Sans SC"/>
              </a:rPr>
              <a:t>01. User Login</a:t>
            </a:r>
            <a:endParaRPr lang="en-US" sz="1100"/>
          </a:p>
          <a:p>
            <a:pPr indent="0" algn="ctr">
              <a:lnSpc>
                <a:spcPct val="125000"/>
              </a:lnSpc>
            </a:pPr>
            <a:r>
              <a:rPr lang="en-US" sz="1200" b="0" i="0" u="none" strike="noStrike">
                <a:solidFill>
                  <a:srgbClr val="6B7280"/>
                </a:solidFill>
                <a:latin typeface="Noto Sans SC"/>
                <a:ea typeface="Noto Sans SC"/>
                <a:cs typeface="Noto Sans SC"/>
                <a:sym typeface="Noto Sans SC"/>
              </a:rPr>
              <a:t>Auth / Account Authorization</a:t>
            </a:r>
          </a:p>
        </p:txBody>
      </p:sp>
      <p:sp>
        <p:nvSpPr>
          <p:cNvPr id="7" name="AutoShape 7"/>
          <p:cNvSpPr/>
          <p:nvPr/>
        </p:nvSpPr>
        <p:spPr>
          <a:xfrm>
            <a:off x="3556000" y="1778000"/>
            <a:ext cx="2540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94200" y="2032000"/>
            <a:ext cx="863600" cy="863600"/>
          </a:xfrm>
          <a:prstGeom prst="rect">
            <a:avLst/>
          </a:prstGeom>
        </p:spPr>
      </p:pic>
      <p:sp>
        <p:nvSpPr>
          <p:cNvPr id="9" name="AutoShape 9"/>
          <p:cNvSpPr/>
          <p:nvPr/>
        </p:nvSpPr>
        <p:spPr>
          <a:xfrm>
            <a:off x="3556000" y="3048000"/>
            <a:ext cx="254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a:ea typeface="Noto Sans SC"/>
                <a:cs typeface="Noto Sans SC"/>
                <a:sym typeface="Noto Sans SC"/>
              </a:rPr>
              <a:t>02. Gameplay</a:t>
            </a:r>
            <a:endParaRPr lang="en-US" sz="1100"/>
          </a:p>
          <a:p>
            <a:pPr indent="0" algn="ctr">
              <a:lnSpc>
                <a:spcPct val="125000"/>
              </a:lnSpc>
            </a:pPr>
            <a:r>
              <a:rPr lang="en-US" sz="1200" b="0" i="0" u="none" strike="noStrike">
                <a:solidFill>
                  <a:srgbClr val="6B7280"/>
                </a:solidFill>
                <a:latin typeface="Noto Sans SC"/>
                <a:ea typeface="Noto Sans SC"/>
                <a:cs typeface="Noto Sans SC"/>
                <a:sym typeface="Noto Sans SC"/>
              </a:rPr>
              <a:t>Rendering / Interaction</a:t>
            </a:r>
          </a:p>
        </p:txBody>
      </p:sp>
      <p:sp>
        <p:nvSpPr>
          <p:cNvPr id="10" name="AutoShape 10"/>
          <p:cNvSpPr/>
          <p:nvPr/>
        </p:nvSpPr>
        <p:spPr>
          <a:xfrm>
            <a:off x="6350000" y="1778000"/>
            <a:ext cx="2540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88200" y="2032000"/>
            <a:ext cx="863600" cy="863600"/>
          </a:xfrm>
          <a:prstGeom prst="rect">
            <a:avLst/>
          </a:prstGeom>
        </p:spPr>
      </p:pic>
      <p:sp>
        <p:nvSpPr>
          <p:cNvPr id="12" name="AutoShape 12"/>
          <p:cNvSpPr/>
          <p:nvPr/>
        </p:nvSpPr>
        <p:spPr>
          <a:xfrm>
            <a:off x="6350000" y="3048000"/>
            <a:ext cx="254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a:ea typeface="Noto Sans SC"/>
                <a:cs typeface="Noto Sans SC"/>
                <a:sym typeface="Noto Sans SC"/>
              </a:rPr>
              <a:t>03. Score Submission</a:t>
            </a:r>
            <a:endParaRPr lang="en-US" sz="1100"/>
          </a:p>
          <a:p>
            <a:pPr indent="0" algn="ctr">
              <a:lnSpc>
                <a:spcPct val="125000"/>
              </a:lnSpc>
            </a:pPr>
            <a:r>
              <a:rPr lang="en-US" sz="1200" b="0" i="0" u="none" strike="noStrike">
                <a:solidFill>
                  <a:srgbClr val="6B7280"/>
                </a:solidFill>
                <a:latin typeface="Noto Sans SC"/>
                <a:ea typeface="Noto Sans SC"/>
                <a:cs typeface="Noto Sans SC"/>
                <a:sym typeface="Noto Sans SC"/>
              </a:rPr>
              <a:t>Encryption / Storage</a:t>
            </a:r>
          </a:p>
        </p:txBody>
      </p:sp>
      <p:sp>
        <p:nvSpPr>
          <p:cNvPr id="13" name="AutoShape 13"/>
          <p:cNvSpPr/>
          <p:nvPr/>
        </p:nvSpPr>
        <p:spPr>
          <a:xfrm>
            <a:off x="9017000" y="1778000"/>
            <a:ext cx="2413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64700" y="2032000"/>
            <a:ext cx="863600" cy="863600"/>
          </a:xfrm>
          <a:prstGeom prst="rect">
            <a:avLst/>
          </a:prstGeom>
        </p:spPr>
      </p:pic>
      <p:sp>
        <p:nvSpPr>
          <p:cNvPr id="15" name="AutoShape 15"/>
          <p:cNvSpPr/>
          <p:nvPr/>
        </p:nvSpPr>
        <p:spPr>
          <a:xfrm>
            <a:off x="9017000" y="3048000"/>
            <a:ext cx="2413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1F2937"/>
                </a:solidFill>
                <a:latin typeface="Noto Sans SC"/>
                <a:ea typeface="Noto Sans SC"/>
                <a:cs typeface="Noto Sans SC"/>
                <a:sym typeface="Noto Sans SC"/>
              </a:rPr>
              <a:t>04. Leaderboard</a:t>
            </a:r>
            <a:endParaRPr lang="en-US" sz="1100"/>
          </a:p>
          <a:p>
            <a:pPr indent="0" algn="ctr">
              <a:lnSpc>
                <a:spcPct val="125000"/>
              </a:lnSpc>
            </a:pPr>
            <a:r>
              <a:rPr lang="en-US" sz="1200" b="0" i="0" u="none" strike="noStrike">
                <a:solidFill>
                  <a:srgbClr val="6B7280"/>
                </a:solidFill>
                <a:latin typeface="Noto Sans SC"/>
                <a:ea typeface="Noto Sans SC"/>
                <a:cs typeface="Noto Sans SC"/>
                <a:sym typeface="Noto Sans SC"/>
              </a:rPr>
              <a:t>Dynamic Sorting</a:t>
            </a:r>
          </a:p>
        </p:txBody>
      </p:sp>
      <p:sp>
        <p:nvSpPr>
          <p:cNvPr id="16" name="AutoShape 16"/>
          <p:cNvSpPr/>
          <p:nvPr/>
        </p:nvSpPr>
        <p:spPr>
          <a:xfrm>
            <a:off x="762000" y="4572000"/>
            <a:ext cx="10668000" cy="1651000"/>
          </a:xfrm>
          <a:prstGeom prst="roundRect">
            <a:avLst>
              <a:gd name="adj" fmla="val 1230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762000" y="4572000"/>
            <a:ext cx="101600" cy="1651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1143000" y="4826000"/>
            <a:ext cx="6985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Conclusion: Core Functions Stable</a:t>
            </a:r>
            <a:endParaRPr lang="en-US" sz="1100"/>
          </a:p>
          <a:p>
            <a:pPr indent="0" algn="l">
              <a:lnSpc>
                <a:spcPct val="125000"/>
              </a:lnSpc>
              <a:spcBef>
                <a:spcPts val="800"/>
              </a:spcBef>
            </a:pPr>
            <a:r>
              <a:rPr lang="en-US" sz="1300" b="0" i="0" u="none" strike="noStrike">
                <a:solidFill>
                  <a:srgbClr val="4B5563"/>
                </a:solidFill>
                <a:latin typeface="Noto Sans SC"/>
                <a:ea typeface="Noto Sans SC"/>
                <a:cs typeface="Noto Sans SC"/>
                <a:sym typeface="Noto Sans SC"/>
              </a:rPr>
              <a:t>All core functions are verified in the real online environment, ensuring stable operation.</a:t>
            </a:r>
          </a:p>
        </p:txBody>
      </p:sp>
      <p:sp>
        <p:nvSpPr>
          <p:cNvPr id="19" name="AutoShape 19"/>
          <p:cNvSpPr/>
          <p:nvPr/>
        </p:nvSpPr>
        <p:spPr>
          <a:xfrm>
            <a:off x="8382000" y="4953000"/>
            <a:ext cx="2794000" cy="889000"/>
          </a:xfrm>
          <a:prstGeom prst="roundRect">
            <a:avLst>
              <a:gd name="adj" fmla="val 11428"/>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72500" y="5156200"/>
            <a:ext cx="457200" cy="457200"/>
          </a:xfrm>
          <a:prstGeom prst="rect">
            <a:avLst/>
          </a:prstGeom>
        </p:spPr>
      </p:pic>
      <p:sp>
        <p:nvSpPr>
          <p:cNvPr id="21" name="AutoShape 21"/>
          <p:cNvSpPr/>
          <p:nvPr/>
        </p:nvSpPr>
        <p:spPr>
          <a:xfrm>
            <a:off x="9144000" y="51435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With Video Demo</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F2937"/>
                </a:solidFill>
                <a:latin typeface="Noto Sans SC"/>
                <a:ea typeface="Noto Sans SC"/>
                <a:cs typeface="Noto Sans SC"/>
                <a:sym typeface="Noto Sans SC"/>
              </a:rPr>
              <a:t>03 Achievement Demo (2): Backend Core API Implementation</a:t>
            </a:r>
            <a:endParaRPr lang="en-US" sz="1100"/>
          </a:p>
        </p:txBody>
      </p:sp>
      <p:sp>
        <p:nvSpPr>
          <p:cNvPr id="4" name="AutoShape 4"/>
          <p:cNvSpPr/>
          <p:nvPr/>
        </p:nvSpPr>
        <p:spPr>
          <a:xfrm>
            <a:off x="762000" y="1651000"/>
            <a:ext cx="5207000" cy="1651000"/>
          </a:xfrm>
          <a:prstGeom prst="roundRect">
            <a:avLst>
              <a:gd name="adj" fmla="val 923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a:stretch>
            <a:fillRect/>
          </a:stretch>
        </p:blipFill>
        <p:spPr>
          <a:xfrm>
            <a:off x="1016000" y="1905000"/>
            <a:ext cx="1143000" cy="1143000"/>
          </a:xfrm>
          <a:prstGeom prst="rect">
            <a:avLst/>
          </a:prstGeom>
          <a:noFill/>
          <a:ln w="25400" cap="flat" cmpd="sng">
            <a:noFill/>
            <a:prstDash val="solid"/>
            <a:round/>
          </a:ln>
        </p:spPr>
      </p:pic>
      <p:sp>
        <p:nvSpPr>
          <p:cNvPr id="6" name="AutoShape 6"/>
          <p:cNvSpPr/>
          <p:nvPr/>
        </p:nvSpPr>
        <p:spPr>
          <a:xfrm>
            <a:off x="2413000" y="1968500"/>
            <a:ext cx="330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Development Tool: Eclipse</a:t>
            </a:r>
            <a:endParaRPr lang="en-US" sz="1100"/>
          </a:p>
          <a:p>
            <a:pPr indent="0" algn="l">
              <a:lnSpc>
                <a:spcPct val="100000"/>
              </a:lnSpc>
            </a:pPr>
            <a:r>
              <a:rPr lang="en-US" sz="1100" b="0" i="0" u="none" strike="noStrike">
                <a:solidFill>
                  <a:srgbClr val="6B7280"/>
                </a:solidFill>
                <a:latin typeface="Noto Sans SC"/>
                <a:ea typeface="Noto Sans SC"/>
                <a:cs typeface="Noto Sans SC"/>
                <a:sym typeface="Noto Sans SC"/>
              </a:rPr>
              <a:t>A mature and stable IDE for Java/PHP. Supports efficient coding and debugging to ensure a smooth development workflow.</a:t>
            </a:r>
          </a:p>
        </p:txBody>
      </p:sp>
      <p:sp>
        <p:nvSpPr>
          <p:cNvPr id="7" name="AutoShape 7"/>
          <p:cNvSpPr/>
          <p:nvPr/>
        </p:nvSpPr>
        <p:spPr>
          <a:xfrm>
            <a:off x="6223000" y="1651000"/>
            <a:ext cx="5207000" cy="1651000"/>
          </a:xfrm>
          <a:prstGeom prst="roundRect">
            <a:avLst>
              <a:gd name="adj" fmla="val 923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srcRect l="30312" r="30312"/>
          <a:stretch>
            <a:fillRect/>
          </a:stretch>
        </p:blipFill>
        <p:spPr>
          <a:xfrm>
            <a:off x="6477000" y="1968500"/>
            <a:ext cx="1143000" cy="762000"/>
          </a:xfrm>
          <a:prstGeom prst="rect">
            <a:avLst/>
          </a:prstGeom>
          <a:noFill/>
          <a:ln w="25400" cap="flat" cmpd="sng">
            <a:noFill/>
            <a:prstDash val="solid"/>
            <a:round/>
          </a:ln>
        </p:spPr>
      </p:pic>
      <p:sp>
        <p:nvSpPr>
          <p:cNvPr id="9" name="AutoShape 9"/>
          <p:cNvSpPr/>
          <p:nvPr/>
        </p:nvSpPr>
        <p:spPr>
          <a:xfrm>
            <a:off x="7874000" y="1968500"/>
            <a:ext cx="330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Runtime Env: XAMPP</a:t>
            </a:r>
            <a:endParaRPr lang="en-US" sz="1100"/>
          </a:p>
          <a:p>
            <a:pPr indent="0" algn="l">
              <a:lnSpc>
                <a:spcPct val="100000"/>
              </a:lnSpc>
            </a:pPr>
            <a:r>
              <a:rPr lang="en-US" sz="1100" b="0" i="0" u="none" strike="noStrike">
                <a:solidFill>
                  <a:srgbClr val="6B7280"/>
                </a:solidFill>
                <a:latin typeface="Noto Sans SC"/>
                <a:ea typeface="Noto Sans SC"/>
                <a:cs typeface="Noto Sans SC"/>
                <a:sym typeface="Noto Sans SC"/>
              </a:rPr>
              <a:t>Lightweight Apache+MySQL+PHP suite. Quickly sets up local server environment for rapid deployment and testing.</a:t>
            </a:r>
          </a:p>
        </p:txBody>
      </p:sp>
      <p:sp>
        <p:nvSpPr>
          <p:cNvPr id="10" name="AutoShape 10"/>
          <p:cNvSpPr/>
          <p:nvPr/>
        </p:nvSpPr>
        <p:spPr>
          <a:xfrm>
            <a:off x="762000" y="3683000"/>
            <a:ext cx="5207000" cy="1778000"/>
          </a:xfrm>
          <a:prstGeom prst="roundRect">
            <a:avLst>
              <a:gd name="adj" fmla="val 857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812800" cy="812800"/>
          </a:xfrm>
          <a:prstGeom prst="rect">
            <a:avLst/>
          </a:prstGeom>
        </p:spPr>
      </p:pic>
      <p:sp>
        <p:nvSpPr>
          <p:cNvPr id="12" name="AutoShape 12"/>
          <p:cNvSpPr/>
          <p:nvPr/>
        </p:nvSpPr>
        <p:spPr>
          <a:xfrm>
            <a:off x="2095500" y="4000500"/>
            <a:ext cx="3556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save_score.php</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Game Score Saving API</a:t>
            </a:r>
          </a:p>
          <a:p>
            <a:pPr indent="0" algn="l">
              <a:lnSpc>
                <a:spcPct val="100000"/>
              </a:lnSpc>
            </a:pPr>
            <a:r>
              <a:rPr lang="en-US" sz="1100" b="0" i="0" u="none" strike="noStrike">
                <a:solidFill>
                  <a:srgbClr val="6B7280"/>
                </a:solidFill>
                <a:latin typeface="Noto Sans SC"/>
                <a:ea typeface="Noto Sans SC"/>
                <a:cs typeface="Noto Sans SC"/>
                <a:sym typeface="Noto Sans SC"/>
              </a:rPr>
              <a:t>Receives game results from the front-end, processes and stores them persistently in the database.</a:t>
            </a:r>
          </a:p>
        </p:txBody>
      </p:sp>
      <p:sp>
        <p:nvSpPr>
          <p:cNvPr id="13" name="AutoShape 13"/>
          <p:cNvSpPr/>
          <p:nvPr/>
        </p:nvSpPr>
        <p:spPr>
          <a:xfrm>
            <a:off x="6223000" y="3683000"/>
            <a:ext cx="5207000" cy="1778000"/>
          </a:xfrm>
          <a:prstGeom prst="roundRect">
            <a:avLst>
              <a:gd name="adj" fmla="val 857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064000"/>
            <a:ext cx="812800" cy="812800"/>
          </a:xfrm>
          <a:prstGeom prst="rect">
            <a:avLst/>
          </a:prstGeom>
        </p:spPr>
      </p:pic>
      <p:sp>
        <p:nvSpPr>
          <p:cNvPr id="15" name="AutoShape 15"/>
          <p:cNvSpPr/>
          <p:nvPr/>
        </p:nvSpPr>
        <p:spPr>
          <a:xfrm>
            <a:off x="7556500" y="4000500"/>
            <a:ext cx="3556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get_leaderboard.php</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Game Leaderboard Retrieval API</a:t>
            </a:r>
          </a:p>
          <a:p>
            <a:pPr indent="0" algn="l">
              <a:lnSpc>
                <a:spcPct val="100000"/>
              </a:lnSpc>
            </a:pPr>
            <a:r>
              <a:rPr lang="en-US" sz="1100" b="0" i="0" u="none" strike="noStrike">
                <a:solidFill>
                  <a:srgbClr val="6B7280"/>
                </a:solidFill>
                <a:latin typeface="Noto Sans SC"/>
                <a:ea typeface="Noto Sans SC"/>
                <a:cs typeface="Noto Sans SC"/>
                <a:sym typeface="Noto Sans SC"/>
              </a:rPr>
              <a:t>Reads player scores from the database, sorts them, and returns to the front-end for real-time ranking display.</a:t>
            </a:r>
          </a:p>
        </p:txBody>
      </p:sp>
      <p:sp>
        <p:nvSpPr>
          <p:cNvPr id="16" name="AutoShape 16"/>
          <p:cNvSpPr/>
          <p:nvPr/>
        </p:nvSpPr>
        <p:spPr>
          <a:xfrm>
            <a:off x="762000" y="5715000"/>
            <a:ext cx="10668000" cy="889000"/>
          </a:xfrm>
          <a:prstGeom prst="roundRect">
            <a:avLst>
              <a:gd name="adj" fmla="val 11428"/>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5842000"/>
            <a:ext cx="1066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Key Note: These two APIs are the cornerstone of data interaction and core support for the game.</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a:solidFill>
                  <a:srgbClr val="1F2937"/>
                </a:solidFill>
                <a:latin typeface="Noto Sans SC"/>
                <a:ea typeface="Noto Sans SC"/>
                <a:cs typeface="Noto Sans SC"/>
                <a:sym typeface="Noto Sans SC"/>
              </a:rPr>
              <a:t>Detailed explanation of interface code: data processing and interaction</a:t>
            </a:r>
            <a:endParaRPr lang="en-US" sz="1100" dirty="0"/>
          </a:p>
        </p:txBody>
      </p:sp>
      <p:sp>
        <p:nvSpPr>
          <p:cNvPr id="4" name="AutoShape 4"/>
          <p:cNvSpPr/>
          <p:nvPr/>
        </p:nvSpPr>
        <p:spPr>
          <a:xfrm>
            <a:off x="762000" y="1778000"/>
            <a:ext cx="5207000" cy="3937000"/>
          </a:xfrm>
          <a:prstGeom prst="roundRect">
            <a:avLst>
              <a:gd name="adj" fmla="val 3870"/>
            </a:avLst>
          </a:prstGeom>
          <a:solidFill>
            <a:srgbClr val="FFFFFF">
              <a:alpha val="96000"/>
            </a:srgbClr>
          </a:solidFill>
          <a:ln w="12700" cap="flat" cmpd="sng">
            <a:solidFill>
              <a:srgbClr val="EDF2F7">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5207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159000"/>
            <a:ext cx="457200" cy="457200"/>
          </a:xfrm>
          <a:prstGeom prst="rect">
            <a:avLst/>
          </a:prstGeom>
        </p:spPr>
      </p:pic>
      <p:sp>
        <p:nvSpPr>
          <p:cNvPr id="7" name="AutoShape 7"/>
          <p:cNvSpPr/>
          <p:nvPr/>
        </p:nvSpPr>
        <p:spPr>
          <a:xfrm>
            <a:off x="1778000" y="21336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a:solidFill>
                  <a:srgbClr val="1F2937"/>
                </a:solidFill>
                <a:latin typeface="Noto Sans SC"/>
                <a:ea typeface="Noto Sans SC"/>
                <a:cs typeface="Noto Sans SC"/>
                <a:sym typeface="Noto Sans SC"/>
              </a:rPr>
              <a:t>save_score.php</a:t>
            </a:r>
            <a:endParaRPr lang="en-US" sz="1100" dirty="0"/>
          </a:p>
        </p:txBody>
      </p:sp>
      <p:sp>
        <p:nvSpPr>
          <p:cNvPr id="8" name="AutoShape 8"/>
          <p:cNvSpPr/>
          <p:nvPr/>
        </p:nvSpPr>
        <p:spPr>
          <a:xfrm>
            <a:off x="1066800" y="3048000"/>
            <a:ext cx="4597400" cy="2032000"/>
          </a:xfrm>
          <a:prstGeom prst="rect">
            <a:avLst/>
          </a:prstGeom>
          <a:noFill/>
          <a:ln w="12700" cap="flat" cmpd="sng">
            <a:noFill/>
            <a:prstDash val="solid"/>
            <a:round/>
          </a:ln>
        </p:spPr>
        <p:txBody>
          <a:bodyPr vert="horz" wrap="square" lIns="0" tIns="0" rIns="0" bIns="0" rtlCol="0" anchor="ctr" anchorCtr="0"/>
          <a:lstStyle/>
          <a:p>
            <a:pPr>
              <a:lnSpc>
                <a:spcPct val="133333"/>
              </a:lnSpc>
              <a:defRPr/>
            </a:pPr>
            <a:r>
              <a:rPr lang="en-US" sz="1500" b="1" i="0" u="none" strike="noStrike" dirty="0">
                <a:solidFill>
                  <a:srgbClr val="2DD4BF"/>
                </a:solidFill>
                <a:latin typeface="Noto Sans SC"/>
                <a:ea typeface="Noto Sans SC"/>
                <a:cs typeface="Noto Sans SC"/>
                <a:sym typeface="Noto Sans SC"/>
              </a:rPr>
              <a:t>● </a:t>
            </a:r>
            <a:r>
              <a:rPr lang="en-US" sz="1500" b="1" dirty="0">
                <a:solidFill>
                  <a:srgbClr val="2DD4BF"/>
                </a:solidFill>
                <a:latin typeface="Noto Sans SC"/>
                <a:ea typeface="Noto Sans SC"/>
                <a:cs typeface="Noto Sans SC"/>
                <a:sym typeface="Noto Sans SC"/>
              </a:rPr>
              <a:t>Data Reception: </a:t>
            </a:r>
            <a:r>
              <a:rPr lang="en-US" dirty="0">
                <a:solidFill>
                  <a:srgbClr val="374151"/>
                </a:solidFill>
                <a:latin typeface="Noto Sans SC"/>
                <a:ea typeface="Noto Sans SC"/>
                <a:cs typeface="Noto Sans SC"/>
                <a:sym typeface="Noto Sans SC"/>
              </a:rPr>
              <a:t>Listen to and parse HTTP requests from the front-end to extract core game data (such as player score, clearance time, level ID, etc.).</a:t>
            </a:r>
          </a:p>
          <a:p>
            <a:pPr>
              <a:lnSpc>
                <a:spcPct val="133333"/>
              </a:lnSpc>
              <a:defRPr/>
            </a:pPr>
            <a:r>
              <a:rPr lang="en-US" sz="1500" b="1" i="0" u="none" strike="noStrike" dirty="0">
                <a:solidFill>
                  <a:srgbClr val="2DD4BF"/>
                </a:solidFill>
                <a:latin typeface="Noto Sans SC"/>
                <a:ea typeface="Noto Sans SC"/>
                <a:cs typeface="Noto Sans SC"/>
                <a:sym typeface="Noto Sans SC"/>
              </a:rPr>
              <a:t>● </a:t>
            </a:r>
            <a:r>
              <a:rPr lang="en-US" sz="1500" b="1" dirty="0">
                <a:solidFill>
                  <a:srgbClr val="2DD4BF"/>
                </a:solidFill>
                <a:latin typeface="Noto Sans SC"/>
                <a:ea typeface="Noto Sans SC"/>
                <a:cs typeface="Noto Sans SC"/>
                <a:sym typeface="Noto Sans SC"/>
              </a:rPr>
              <a:t>Secure </a:t>
            </a:r>
            <a:r>
              <a:rPr lang="en-US" sz="1500" b="1" dirty="0" err="1">
                <a:solidFill>
                  <a:srgbClr val="2DD4BF"/>
                </a:solidFill>
                <a:latin typeface="Noto Sans SC"/>
                <a:ea typeface="Noto Sans SC"/>
                <a:cs typeface="Noto Sans SC"/>
                <a:sym typeface="Noto Sans SC"/>
              </a:rPr>
              <a:t>storage</a:t>
            </a:r>
            <a:r>
              <a:rPr lang="en-US" sz="1500" b="1" i="0" u="none" strike="noStrike" dirty="0" err="1">
                <a:solidFill>
                  <a:srgbClr val="2DD4BF"/>
                </a:solidFill>
                <a:latin typeface="Noto Sans SC"/>
                <a:ea typeface="Noto Sans SC"/>
                <a:cs typeface="Noto Sans SC"/>
                <a:sym typeface="Noto Sans SC"/>
              </a:rPr>
              <a:t>：</a:t>
            </a:r>
            <a:r>
              <a:rPr lang="en-US" dirty="0" err="1">
                <a:solidFill>
                  <a:srgbClr val="374151"/>
                </a:solidFill>
                <a:latin typeface="Noto Sans SC"/>
                <a:ea typeface="Noto Sans SC"/>
                <a:cs typeface="Noto Sans SC"/>
                <a:sym typeface="Noto Sans SC"/>
              </a:rPr>
              <a:t>Perform</a:t>
            </a:r>
            <a:r>
              <a:rPr lang="en-US" dirty="0">
                <a:solidFill>
                  <a:srgbClr val="374151"/>
                </a:solidFill>
                <a:latin typeface="Noto Sans SC"/>
                <a:ea typeface="Noto Sans SC"/>
                <a:cs typeface="Noto Sans SC"/>
                <a:sym typeface="Noto Sans SC"/>
              </a:rPr>
              <a:t> data cleaning and format verification to filter illegal parameters; The verified data is stably written to the backend MySQL database through SQL statements.</a:t>
            </a:r>
            <a:endParaRPr lang="en-US" sz="1400" b="0" i="0" u="none" strike="noStrike" dirty="0">
              <a:solidFill>
                <a:srgbClr val="374151"/>
              </a:solidFill>
              <a:latin typeface="Noto Sans SC"/>
              <a:ea typeface="Noto Sans SC"/>
              <a:cs typeface="Noto Sans SC"/>
              <a:sym typeface="Noto Sans SC"/>
            </a:endParaRPr>
          </a:p>
        </p:txBody>
      </p:sp>
      <p:sp>
        <p:nvSpPr>
          <p:cNvPr id="9" name="AutoShape 9"/>
          <p:cNvSpPr/>
          <p:nvPr/>
        </p:nvSpPr>
        <p:spPr>
          <a:xfrm>
            <a:off x="6223000" y="1778000"/>
            <a:ext cx="5207000" cy="3937000"/>
          </a:xfrm>
          <a:prstGeom prst="roundRect">
            <a:avLst>
              <a:gd name="adj" fmla="val 3870"/>
            </a:avLst>
          </a:prstGeom>
          <a:solidFill>
            <a:srgbClr val="FFFFFF">
              <a:alpha val="96000"/>
            </a:srgbClr>
          </a:solidFill>
          <a:ln w="12700" cap="flat" cmpd="sng">
            <a:solidFill>
              <a:srgbClr val="EDF2F7">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223000" y="1778000"/>
            <a:ext cx="5207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2159000"/>
            <a:ext cx="457200" cy="457200"/>
          </a:xfrm>
          <a:prstGeom prst="rect">
            <a:avLst/>
          </a:prstGeom>
        </p:spPr>
      </p:pic>
      <p:sp>
        <p:nvSpPr>
          <p:cNvPr id="12" name="AutoShape 12"/>
          <p:cNvSpPr/>
          <p:nvPr/>
        </p:nvSpPr>
        <p:spPr>
          <a:xfrm>
            <a:off x="7239000" y="21336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a:solidFill>
                  <a:srgbClr val="1F2937"/>
                </a:solidFill>
                <a:latin typeface="Noto Sans SC"/>
                <a:ea typeface="Noto Sans SC"/>
                <a:cs typeface="Noto Sans SC"/>
                <a:sym typeface="Noto Sans SC"/>
              </a:rPr>
              <a:t>get_leaderboard.php</a:t>
            </a:r>
            <a:endParaRPr lang="en-US" sz="1100" dirty="0"/>
          </a:p>
        </p:txBody>
      </p:sp>
      <p:sp>
        <p:nvSpPr>
          <p:cNvPr id="13" name="AutoShape 13"/>
          <p:cNvSpPr/>
          <p:nvPr/>
        </p:nvSpPr>
        <p:spPr>
          <a:xfrm>
            <a:off x="6527800" y="3048000"/>
            <a:ext cx="4597400" cy="2286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500" b="1" i="0" u="none" strike="noStrike" dirty="0">
                <a:solidFill>
                  <a:srgbClr val="2DD4BF"/>
                </a:solidFill>
                <a:latin typeface="Noto Sans SC"/>
                <a:ea typeface="Noto Sans SC"/>
                <a:cs typeface="Noto Sans SC"/>
                <a:sym typeface="Noto Sans SC"/>
              </a:rPr>
              <a:t>● </a:t>
            </a:r>
            <a:r>
              <a:rPr lang="en-US" sz="1500" b="1" dirty="0">
                <a:solidFill>
                  <a:srgbClr val="2DD4BF"/>
                </a:solidFill>
                <a:latin typeface="Noto Sans SC"/>
                <a:ea typeface="Noto Sans SC"/>
                <a:cs typeface="Noto Sans SC"/>
                <a:sym typeface="Noto Sans SC"/>
              </a:rPr>
              <a:t>Data </a:t>
            </a:r>
            <a:r>
              <a:rPr lang="en-US" sz="1500" b="1" dirty="0" err="1">
                <a:solidFill>
                  <a:srgbClr val="2DD4BF"/>
                </a:solidFill>
                <a:latin typeface="Noto Sans SC"/>
                <a:ea typeface="Noto Sans SC"/>
                <a:cs typeface="Noto Sans SC"/>
                <a:sym typeface="Noto Sans SC"/>
              </a:rPr>
              <a:t>Retrieval:</a:t>
            </a:r>
            <a:r>
              <a:rPr lang="en-US" dirty="0" err="1">
                <a:solidFill>
                  <a:srgbClr val="374151"/>
                </a:solidFill>
                <a:latin typeface="Noto Sans SC"/>
                <a:ea typeface="Noto Sans SC"/>
                <a:cs typeface="Noto Sans SC"/>
                <a:sym typeface="Noto Sans SC"/>
              </a:rPr>
              <a:t>Respond</a:t>
            </a:r>
            <a:r>
              <a:rPr lang="en-US" dirty="0">
                <a:solidFill>
                  <a:srgbClr val="374151"/>
                </a:solidFill>
                <a:latin typeface="Noto Sans SC"/>
                <a:ea typeface="Noto Sans SC"/>
                <a:cs typeface="Noto Sans SC"/>
                <a:sym typeface="Noto Sans SC"/>
              </a:rPr>
              <a:t> to front-end requests to query player history records from the database table.</a:t>
            </a:r>
          </a:p>
          <a:p>
            <a:pPr>
              <a:lnSpc>
                <a:spcPct val="125000"/>
              </a:lnSpc>
              <a:defRPr/>
            </a:pPr>
            <a:r>
              <a:rPr lang="en-US" sz="1500" b="1" i="0" u="none" strike="noStrike" dirty="0">
                <a:solidFill>
                  <a:srgbClr val="2DD4BF"/>
                </a:solidFill>
                <a:latin typeface="Noto Sans SC"/>
                <a:ea typeface="Noto Sans SC"/>
                <a:cs typeface="Noto Sans SC"/>
                <a:sym typeface="Noto Sans SC"/>
              </a:rPr>
              <a:t>● </a:t>
            </a:r>
            <a:r>
              <a:rPr lang="en-US" sz="1500" b="1" dirty="0">
                <a:solidFill>
                  <a:srgbClr val="2DD4BF"/>
                </a:solidFill>
                <a:latin typeface="Noto Sans SC"/>
                <a:ea typeface="Noto Sans SC"/>
                <a:cs typeface="Noto Sans SC"/>
                <a:sym typeface="Noto Sans SC"/>
              </a:rPr>
              <a:t>Logical processing: </a:t>
            </a:r>
            <a:r>
              <a:rPr lang="en-US" dirty="0">
                <a:solidFill>
                  <a:srgbClr val="374151"/>
                </a:solidFill>
                <a:latin typeface="Noto Sans SC"/>
                <a:ea typeface="Noto Sans SC"/>
                <a:cs typeface="Noto Sans SC"/>
                <a:sym typeface="Noto Sans SC"/>
              </a:rPr>
              <a:t>The original query results are sorted in descending order of score, and the top N data are intercepted to generate a ranking data structure.</a:t>
            </a:r>
          </a:p>
          <a:p>
            <a:pPr>
              <a:lnSpc>
                <a:spcPct val="125000"/>
              </a:lnSpc>
              <a:defRPr/>
            </a:pPr>
            <a:r>
              <a:rPr lang="en-US" sz="1500" b="1" i="0" u="none" strike="noStrike" dirty="0">
                <a:solidFill>
                  <a:srgbClr val="2DD4BF"/>
                </a:solidFill>
                <a:latin typeface="Noto Sans SC"/>
                <a:ea typeface="Noto Sans SC"/>
                <a:cs typeface="Noto Sans SC"/>
                <a:sym typeface="Noto Sans SC"/>
              </a:rPr>
              <a:t>● </a:t>
            </a:r>
            <a:r>
              <a:rPr lang="en-US" sz="1500" b="1" dirty="0">
                <a:solidFill>
                  <a:srgbClr val="2DD4BF"/>
                </a:solidFill>
                <a:latin typeface="Noto Sans SC"/>
                <a:ea typeface="Noto Sans SC"/>
                <a:cs typeface="Noto Sans SC"/>
                <a:sym typeface="Noto Sans SC"/>
              </a:rPr>
              <a:t>The results </a:t>
            </a:r>
            <a:r>
              <a:rPr lang="en-US" sz="1500" b="1" dirty="0" err="1">
                <a:solidFill>
                  <a:srgbClr val="2DD4BF"/>
                </a:solidFill>
                <a:latin typeface="Noto Sans SC"/>
                <a:ea typeface="Noto Sans SC"/>
                <a:cs typeface="Noto Sans SC"/>
                <a:sym typeface="Noto Sans SC"/>
              </a:rPr>
              <a:t>return:</a:t>
            </a:r>
            <a:r>
              <a:rPr lang="en-US" dirty="0" err="1">
                <a:solidFill>
                  <a:srgbClr val="374151"/>
                </a:solidFill>
                <a:latin typeface="Noto Sans SC"/>
                <a:ea typeface="Noto Sans SC"/>
                <a:cs typeface="Noto Sans SC"/>
                <a:sym typeface="Noto Sans SC"/>
              </a:rPr>
              <a:t>The</a:t>
            </a:r>
            <a:r>
              <a:rPr lang="en-US" dirty="0">
                <a:solidFill>
                  <a:srgbClr val="374151"/>
                </a:solidFill>
                <a:latin typeface="Noto Sans SC"/>
                <a:ea typeface="Noto Sans SC"/>
                <a:cs typeface="Noto Sans SC"/>
                <a:sym typeface="Noto Sans SC"/>
              </a:rPr>
              <a:t> processed data is serialized into standard JSON format and output to the front-end page for rendering and display.</a:t>
            </a:r>
            <a:endParaRPr lang="en-US" sz="1400" b="0" i="0" u="none" strike="noStrike" dirty="0">
              <a:solidFill>
                <a:srgbClr val="374151"/>
              </a:solidFill>
              <a:latin typeface="Noto Sans SC"/>
              <a:ea typeface="Noto Sans SC"/>
              <a:cs typeface="Noto Sans SC"/>
              <a:sym typeface="Noto Sans SC"/>
            </a:endParaRPr>
          </a:p>
        </p:txBody>
      </p:sp>
      <p:sp>
        <p:nvSpPr>
          <p:cNvPr id="14" name="AutoShape 14"/>
          <p:cNvSpPr/>
          <p:nvPr/>
        </p:nvSpPr>
        <p:spPr>
          <a:xfrm>
            <a:off x="0" y="596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1" u="none" strike="noStrike">
                <a:solidFill>
                  <a:srgbClr val="6B7280"/>
                </a:solidFill>
                <a:latin typeface="Noto Sans SC"/>
                <a:ea typeface="Noto Sans SC"/>
                <a:cs typeface="Noto Sans SC"/>
                <a:sym typeface="Noto Sans SC"/>
              </a:rPr>
              <a:t>💡 配合录屏演示：接口请求与响应的完整交互流程</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a:solidFill>
                  <a:srgbClr val="1F2937"/>
                </a:solidFill>
                <a:latin typeface="Noto Sans SC"/>
                <a:ea typeface="Noto Sans SC"/>
                <a:cs typeface="Noto Sans SC"/>
                <a:sym typeface="Noto Sans SC"/>
              </a:rPr>
              <a:t>04 Achievement Demonstration (3): Database Design and Management</a:t>
            </a:r>
            <a:endParaRPr lang="en-US" sz="1100" dirty="0"/>
          </a:p>
        </p:txBody>
      </p:sp>
      <p:sp>
        <p:nvSpPr>
          <p:cNvPr id="4" name="AutoShape 4"/>
          <p:cNvSpPr/>
          <p:nvPr/>
        </p:nvSpPr>
        <p:spPr>
          <a:xfrm>
            <a:off x="762000" y="1778000"/>
            <a:ext cx="4572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14705" b="14705"/>
          <a:stretch>
            <a:fillRect/>
          </a:stretch>
        </p:blipFill>
        <p:spPr>
          <a:xfrm>
            <a:off x="1968500" y="2286000"/>
            <a:ext cx="2159000" cy="1524000"/>
          </a:xfrm>
          <a:prstGeom prst="rect">
            <a:avLst/>
          </a:prstGeom>
          <a:noFill/>
          <a:ln w="25400" cap="flat" cmpd="sng">
            <a:noFill/>
            <a:prstDash val="solid"/>
            <a:round/>
          </a:ln>
        </p:spPr>
      </p:pic>
      <p:pic>
        <p:nvPicPr>
          <p:cNvPr id="6" name="Picture 6"/>
          <p:cNvPicPr>
            <a:picLocks noChangeAspect="1"/>
          </p:cNvPicPr>
          <p:nvPr/>
        </p:nvPicPr>
        <p:blipFill>
          <a:blip r:embed="rId5"/>
          <a:srcRect l="1000" r="1000"/>
          <a:stretch>
            <a:fillRect/>
          </a:stretch>
        </p:blipFill>
        <p:spPr>
          <a:xfrm>
            <a:off x="1270000" y="4191000"/>
            <a:ext cx="3556000" cy="952500"/>
          </a:xfrm>
          <a:prstGeom prst="rect">
            <a:avLst/>
          </a:prstGeom>
          <a:noFill/>
          <a:ln w="25400" cap="flat" cmpd="sng">
            <a:noFill/>
            <a:prstDash val="solid"/>
            <a:round/>
          </a:ln>
        </p:spPr>
      </p:pic>
      <p:sp>
        <p:nvSpPr>
          <p:cNvPr id="7" name="AutoShape 7"/>
          <p:cNvSpPr/>
          <p:nvPr/>
        </p:nvSpPr>
        <p:spPr>
          <a:xfrm>
            <a:off x="889000" y="5461000"/>
            <a:ext cx="431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dirty="0">
                <a:solidFill>
                  <a:srgbClr val="4B5563"/>
                </a:solidFill>
                <a:latin typeface="Noto Sans SC"/>
                <a:ea typeface="Noto Sans SC"/>
                <a:cs typeface="Noto Sans SC"/>
                <a:sym typeface="Noto Sans SC"/>
              </a:rPr>
              <a:t>Core </a:t>
            </a:r>
            <a:r>
              <a:rPr lang="en-US" sz="1600" b="1" dirty="0" err="1">
                <a:solidFill>
                  <a:srgbClr val="4B5563"/>
                </a:solidFill>
                <a:latin typeface="Noto Sans SC"/>
                <a:ea typeface="Noto Sans SC"/>
                <a:cs typeface="Noto Sans SC"/>
                <a:sym typeface="Noto Sans SC"/>
              </a:rPr>
              <a:t>tools</a:t>
            </a:r>
            <a:r>
              <a:rPr lang="en-US" sz="1600" b="1" i="0" u="none" strike="noStrike" dirty="0" err="1">
                <a:solidFill>
                  <a:srgbClr val="4B5563"/>
                </a:solidFill>
                <a:latin typeface="Noto Sans SC"/>
                <a:ea typeface="Noto Sans SC"/>
                <a:cs typeface="Noto Sans SC"/>
                <a:sym typeface="Noto Sans SC"/>
              </a:rPr>
              <a:t>：XAMPP</a:t>
            </a:r>
            <a:r>
              <a:rPr lang="en-US" sz="1600" b="1" i="0" u="none" strike="noStrike" dirty="0">
                <a:solidFill>
                  <a:srgbClr val="4B5563"/>
                </a:solidFill>
                <a:latin typeface="Noto Sans SC"/>
                <a:ea typeface="Noto Sans SC"/>
                <a:cs typeface="Noto Sans SC"/>
                <a:sym typeface="Noto Sans SC"/>
              </a:rPr>
              <a:t> (phpMyAdmin)</a:t>
            </a:r>
            <a:endParaRPr lang="en-US" sz="1100" dirty="0"/>
          </a:p>
        </p:txBody>
      </p:sp>
      <p:sp>
        <p:nvSpPr>
          <p:cNvPr id="8" name="AutoShape 8"/>
          <p:cNvSpPr/>
          <p:nvPr/>
        </p:nvSpPr>
        <p:spPr>
          <a:xfrm>
            <a:off x="5842000" y="1778000"/>
            <a:ext cx="5588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2095500"/>
            <a:ext cx="609600" cy="609600"/>
          </a:xfrm>
          <a:prstGeom prst="rect">
            <a:avLst/>
          </a:prstGeom>
        </p:spPr>
      </p:pic>
      <p:sp>
        <p:nvSpPr>
          <p:cNvPr id="10" name="AutoShape 10"/>
          <p:cNvSpPr/>
          <p:nvPr/>
        </p:nvSpPr>
        <p:spPr>
          <a:xfrm>
            <a:off x="6985000" y="1968500"/>
            <a:ext cx="4191000" cy="889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b="1" dirty="0">
                <a:solidFill>
                  <a:srgbClr val="1F2937"/>
                </a:solidFill>
                <a:latin typeface="Noto Sans SC"/>
                <a:ea typeface="Noto Sans SC"/>
                <a:cs typeface="Noto Sans SC"/>
                <a:sym typeface="Noto Sans SC"/>
              </a:rPr>
              <a:t>Full participation · Design and maintenance</a:t>
            </a:r>
          </a:p>
          <a:p>
            <a:pPr>
              <a:lnSpc>
                <a:spcPct val="125000"/>
              </a:lnSpc>
              <a:defRPr/>
            </a:pPr>
            <a:r>
              <a:rPr lang="en-US" sz="1050" dirty="0">
                <a:solidFill>
                  <a:srgbClr val="6B7280"/>
                </a:solidFill>
                <a:latin typeface="Noto Sans SC"/>
                <a:ea typeface="Noto Sans SC"/>
                <a:cs typeface="Noto Sans SC"/>
                <a:sym typeface="Noto Sans SC"/>
              </a:rPr>
              <a:t>Deeply participate in the preliminary design of the project database architecture, the creation of the database and the continuous maintenance of the later stage to ensure the underlying stability of the system.</a:t>
            </a:r>
            <a:endParaRPr lang="en-US" sz="1050" b="0" i="0" u="none" strike="noStrike" dirty="0">
              <a:solidFill>
                <a:srgbClr val="6B7280"/>
              </a:solidFill>
              <a:latin typeface="Noto Sans SC"/>
              <a:ea typeface="Noto Sans SC"/>
              <a:cs typeface="Noto Sans SC"/>
              <a:sym typeface="Noto Sans SC"/>
            </a:endParaRPr>
          </a:p>
        </p:txBody>
      </p:sp>
      <p:sp>
        <p:nvSpPr>
          <p:cNvPr id="11" name="AutoShape 11"/>
          <p:cNvSpPr/>
          <p:nvPr/>
        </p:nvSpPr>
        <p:spPr>
          <a:xfrm>
            <a:off x="5842000" y="3302000"/>
            <a:ext cx="5588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96000" y="3619500"/>
            <a:ext cx="609600" cy="609600"/>
          </a:xfrm>
          <a:prstGeom prst="rect">
            <a:avLst/>
          </a:prstGeom>
        </p:spPr>
      </p:pic>
      <p:sp>
        <p:nvSpPr>
          <p:cNvPr id="13" name="AutoShape 13"/>
          <p:cNvSpPr/>
          <p:nvPr/>
        </p:nvSpPr>
        <p:spPr>
          <a:xfrm>
            <a:off x="6985000" y="3492500"/>
            <a:ext cx="4191000" cy="889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b="1" dirty="0">
                <a:solidFill>
                  <a:srgbClr val="1F2937"/>
                </a:solidFill>
                <a:latin typeface="Noto Sans SC"/>
                <a:ea typeface="Noto Sans SC"/>
                <a:cs typeface="Noto Sans SC"/>
                <a:sym typeface="Noto Sans SC"/>
              </a:rPr>
              <a:t>Structural specifications · Field standardization</a:t>
            </a:r>
          </a:p>
          <a:p>
            <a:pPr>
              <a:lnSpc>
                <a:spcPct val="125000"/>
              </a:lnSpc>
              <a:defRPr/>
            </a:pPr>
            <a:r>
              <a:rPr lang="en-US" sz="1050" dirty="0">
                <a:solidFill>
                  <a:srgbClr val="6B7280"/>
                </a:solidFill>
                <a:latin typeface="Noto Sans SC"/>
                <a:ea typeface="Noto Sans SC"/>
                <a:cs typeface="Noto Sans SC"/>
                <a:sym typeface="Noto Sans SC"/>
              </a:rPr>
              <a:t>Sort out and formulate unified data table structure specifications, strictly define the types, constraints, and naming rules of each table field to improve data readability and scalability.</a:t>
            </a:r>
            <a:endParaRPr lang="en-US" sz="1050" b="0" i="0" u="none" strike="noStrike" dirty="0">
              <a:solidFill>
                <a:srgbClr val="6B7280"/>
              </a:solidFill>
              <a:latin typeface="Noto Sans SC"/>
              <a:ea typeface="Noto Sans SC"/>
              <a:cs typeface="Noto Sans SC"/>
              <a:sym typeface="Noto Sans SC"/>
            </a:endParaRPr>
          </a:p>
        </p:txBody>
      </p:sp>
      <p:sp>
        <p:nvSpPr>
          <p:cNvPr id="14" name="AutoShape 14"/>
          <p:cNvSpPr/>
          <p:nvPr/>
        </p:nvSpPr>
        <p:spPr>
          <a:xfrm>
            <a:off x="5842000" y="4826000"/>
            <a:ext cx="5588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0" y="5143500"/>
            <a:ext cx="609600" cy="609600"/>
          </a:xfrm>
          <a:prstGeom prst="rect">
            <a:avLst/>
          </a:prstGeom>
        </p:spPr>
      </p:pic>
      <p:sp>
        <p:nvSpPr>
          <p:cNvPr id="16" name="AutoShape 16"/>
          <p:cNvSpPr/>
          <p:nvPr/>
        </p:nvSpPr>
        <p:spPr>
          <a:xfrm>
            <a:off x="6985000" y="5016500"/>
            <a:ext cx="4191000" cy="889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b="1" dirty="0">
                <a:solidFill>
                  <a:srgbClr val="1F2937"/>
                </a:solidFill>
                <a:latin typeface="Noto Sans SC"/>
                <a:ea typeface="Noto Sans SC"/>
                <a:cs typeface="Noto Sans SC"/>
                <a:sym typeface="Noto Sans SC"/>
              </a:rPr>
              <a:t>Full storage · Data integrity</a:t>
            </a:r>
          </a:p>
          <a:p>
            <a:pPr>
              <a:lnSpc>
                <a:spcPct val="125000"/>
              </a:lnSpc>
              <a:defRPr/>
            </a:pPr>
            <a:r>
              <a:rPr lang="en-US" sz="1050" dirty="0">
                <a:solidFill>
                  <a:srgbClr val="6B7280"/>
                </a:solidFill>
                <a:latin typeface="Noto Sans SC"/>
                <a:ea typeface="Noto Sans SC"/>
                <a:cs typeface="Noto Sans SC"/>
                <a:sym typeface="Noto Sans SC"/>
              </a:rPr>
              <a:t>Ensure that key data such as user registration information, real-time game scores, and system background operation logs are written and stored completely and accurately.</a:t>
            </a:r>
            <a:endParaRPr lang="en-US" sz="1050" b="0" i="0" u="none" strike="noStrike" dirty="0">
              <a:solidFill>
                <a:srgbClr val="6B7280"/>
              </a:solidFill>
              <a:latin typeface="Noto Sans SC"/>
              <a:ea typeface="Noto Sans SC"/>
              <a:cs typeface="Noto Sans SC"/>
              <a:sym typeface="Noto Sans SC"/>
            </a:endParaRPr>
          </a:p>
        </p:txBody>
      </p:sp>
      <p:sp>
        <p:nvSpPr>
          <p:cNvPr id="18" name="AutoShape 18"/>
          <p:cNvSpPr/>
          <p:nvPr/>
        </p:nvSpPr>
        <p:spPr>
          <a:xfrm>
            <a:off x="10287000" y="5270500"/>
            <a:ext cx="1016000" cy="330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FFFFFF"/>
                </a:solidFill>
                <a:latin typeface="Noto Sans SC"/>
                <a:ea typeface="Noto Sans SC"/>
                <a:cs typeface="Noto Sans SC"/>
                <a:sym typeface="Noto Sans SC"/>
              </a:rPr>
              <a:t>配合录屏</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dirty="0">
                <a:solidFill>
                  <a:srgbClr val="1F2937"/>
                </a:solidFill>
                <a:latin typeface="Noto Sans SC"/>
                <a:ea typeface="Noto Sans SC"/>
                <a:cs typeface="Noto Sans SC"/>
                <a:sym typeface="Noto Sans SC"/>
              </a:rPr>
              <a:t>Data interoperability and integrity</a:t>
            </a:r>
            <a:endParaRPr lang="en-US" sz="1100" dirty="0"/>
          </a:p>
        </p:txBody>
      </p:sp>
      <p:sp>
        <p:nvSpPr>
          <p:cNvPr id="4" name="AutoShape 4"/>
          <p:cNvSpPr/>
          <p:nvPr/>
        </p:nvSpPr>
        <p:spPr>
          <a:xfrm>
            <a:off x="762000" y="1651000"/>
            <a:ext cx="5207000" cy="4572000"/>
          </a:xfrm>
          <a:prstGeom prst="roundRect">
            <a:avLst>
              <a:gd name="adj" fmla="val 333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905000"/>
            <a:ext cx="4699000" cy="508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i="0" u="none" strike="noStrike" dirty="0">
                <a:solidFill>
                  <a:srgbClr val="2DD4BF"/>
                </a:solidFill>
                <a:latin typeface="Noto Sans SC"/>
                <a:ea typeface="Noto Sans SC"/>
                <a:cs typeface="Noto Sans SC"/>
                <a:sym typeface="Noto Sans SC"/>
              </a:rPr>
              <a:t>📊 </a:t>
            </a:r>
            <a:r>
              <a:rPr lang="en-US" sz="2000" b="1" dirty="0">
                <a:solidFill>
                  <a:srgbClr val="2DD4BF"/>
                </a:solidFill>
                <a:latin typeface="Noto Sans SC"/>
                <a:ea typeface="Noto Sans SC"/>
                <a:cs typeface="Noto Sans SC"/>
                <a:sym typeface="Noto Sans SC"/>
              </a:rPr>
              <a:t>Core data table structure display</a:t>
            </a:r>
            <a:endParaRPr lang="en-US" sz="1100" dirty="0"/>
          </a:p>
        </p:txBody>
      </p:sp>
      <p:sp>
        <p:nvSpPr>
          <p:cNvPr id="6" name="AutoShape 6"/>
          <p:cNvSpPr/>
          <p:nvPr/>
        </p:nvSpPr>
        <p:spPr>
          <a:xfrm>
            <a:off x="1016000" y="2672080"/>
            <a:ext cx="4699000" cy="1587500"/>
          </a:xfrm>
          <a:prstGeom prst="roundRect">
            <a:avLst>
              <a:gd name="adj" fmla="val 640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06500" y="2607056"/>
            <a:ext cx="1353820" cy="424688"/>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dirty="0">
                <a:solidFill>
                  <a:srgbClr val="2DD4BF"/>
                </a:solidFill>
                <a:latin typeface="Courier New"/>
                <a:ea typeface="Courier New"/>
                <a:cs typeface="Courier New"/>
                <a:sym typeface="Courier New"/>
              </a:rPr>
              <a:t>Table: users </a:t>
            </a:r>
            <a:endParaRPr lang="en-US" sz="1100" dirty="0"/>
          </a:p>
        </p:txBody>
      </p:sp>
      <p:sp>
        <p:nvSpPr>
          <p:cNvPr id="8" name="AutoShape 8"/>
          <p:cNvSpPr/>
          <p:nvPr/>
        </p:nvSpPr>
        <p:spPr>
          <a:xfrm>
            <a:off x="1016000" y="4445000"/>
            <a:ext cx="4699000" cy="1587500"/>
          </a:xfrm>
          <a:prstGeom prst="roundRect">
            <a:avLst>
              <a:gd name="adj" fmla="val 640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9" name="AutoShape 9"/>
          <p:cNvSpPr/>
          <p:nvPr/>
        </p:nvSpPr>
        <p:spPr>
          <a:xfrm>
            <a:off x="1206500" y="4572000"/>
            <a:ext cx="4435348" cy="3429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dirty="0">
                <a:solidFill>
                  <a:srgbClr val="F472B6"/>
                </a:solidFill>
                <a:latin typeface="Courier New"/>
                <a:ea typeface="Courier New"/>
                <a:cs typeface="Courier New"/>
                <a:sym typeface="Courier New"/>
              </a:rPr>
              <a:t>Table: </a:t>
            </a:r>
            <a:r>
              <a:rPr lang="en-US" altLang="zh-CN" sz="1300" b="1" dirty="0" err="1">
                <a:solidFill>
                  <a:srgbClr val="F472B6"/>
                </a:solidFill>
                <a:latin typeface="Courier New"/>
                <a:ea typeface="Courier New"/>
                <a:cs typeface="Courier New"/>
                <a:sym typeface="Courier New"/>
              </a:rPr>
              <a:t>game_records</a:t>
            </a:r>
            <a:r>
              <a:rPr lang="en-US" sz="1300" b="1" i="0" u="none" strike="noStrike" dirty="0">
                <a:solidFill>
                  <a:srgbClr val="F472B6"/>
                </a:solidFill>
                <a:latin typeface="Courier New"/>
                <a:ea typeface="Courier New"/>
                <a:cs typeface="Courier New"/>
                <a:sym typeface="Courier New"/>
              </a:rPr>
              <a:t> </a:t>
            </a:r>
            <a:endParaRPr lang="en-US" sz="1100" dirty="0"/>
          </a:p>
        </p:txBody>
      </p:sp>
      <p:sp>
        <p:nvSpPr>
          <p:cNvPr id="10" name="AutoShape 10"/>
          <p:cNvSpPr/>
          <p:nvPr/>
        </p:nvSpPr>
        <p:spPr>
          <a:xfrm>
            <a:off x="6223000" y="1651000"/>
            <a:ext cx="5207000" cy="4572000"/>
          </a:xfrm>
          <a:prstGeom prst="roundRect">
            <a:avLst>
              <a:gd name="adj" fmla="val 333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477000" y="1905000"/>
            <a:ext cx="4699000" cy="508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i="0" u="none" strike="noStrike" dirty="0">
                <a:solidFill>
                  <a:srgbClr val="2DD4BF"/>
                </a:solidFill>
                <a:latin typeface="Noto Sans SC"/>
                <a:ea typeface="Noto Sans SC"/>
                <a:cs typeface="Noto Sans SC"/>
                <a:sym typeface="Noto Sans SC"/>
              </a:rPr>
              <a:t>✅ </a:t>
            </a:r>
            <a:r>
              <a:rPr lang="en-US" sz="2000" b="1" dirty="0">
                <a:solidFill>
                  <a:srgbClr val="2DD4BF"/>
                </a:solidFill>
                <a:latin typeface="Noto Sans SC"/>
                <a:ea typeface="Noto Sans SC"/>
                <a:cs typeface="Noto Sans SC"/>
                <a:sym typeface="Noto Sans SC"/>
              </a:rPr>
              <a:t>Verification of technical achievements</a:t>
            </a:r>
            <a:endParaRPr lang="en-US" sz="1100" dirty="0"/>
          </a:p>
        </p:txBody>
      </p:sp>
      <p:sp>
        <p:nvSpPr>
          <p:cNvPr id="12" name="AutoShape 12"/>
          <p:cNvSpPr/>
          <p:nvPr/>
        </p:nvSpPr>
        <p:spPr>
          <a:xfrm>
            <a:off x="6477000" y="2667000"/>
            <a:ext cx="4699000" cy="1079500"/>
          </a:xfrm>
          <a:prstGeom prst="roundRect">
            <a:avLst>
              <a:gd name="adj" fmla="val 9411"/>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2921000"/>
            <a:ext cx="508000" cy="508000"/>
          </a:xfrm>
          <a:prstGeom prst="rect">
            <a:avLst/>
          </a:prstGeom>
        </p:spPr>
      </p:pic>
      <p:sp>
        <p:nvSpPr>
          <p:cNvPr id="14" name="AutoShape 14"/>
          <p:cNvSpPr/>
          <p:nvPr/>
        </p:nvSpPr>
        <p:spPr>
          <a:xfrm>
            <a:off x="7366000" y="2819400"/>
            <a:ext cx="3683000" cy="889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b="1" dirty="0">
                <a:solidFill>
                  <a:srgbClr val="1F2937"/>
                </a:solidFill>
                <a:latin typeface="Noto Sans SC"/>
                <a:ea typeface="Noto Sans SC"/>
                <a:cs typeface="Noto Sans SC"/>
                <a:sym typeface="Noto Sans SC"/>
              </a:rPr>
              <a:t>The backend code seamlessly interfaces with the database</a:t>
            </a:r>
          </a:p>
          <a:p>
            <a:pPr>
              <a:lnSpc>
                <a:spcPct val="125000"/>
              </a:lnSpc>
              <a:defRPr/>
            </a:pPr>
            <a:r>
              <a:rPr lang="en-US" sz="1000" dirty="0">
                <a:solidFill>
                  <a:srgbClr val="6B7280"/>
                </a:solidFill>
                <a:latin typeface="Noto Sans SC"/>
                <a:ea typeface="Noto Sans SC"/>
                <a:cs typeface="Noto Sans SC"/>
                <a:sym typeface="Noto Sans SC"/>
              </a:rPr>
              <a:t>Through configuration files and ORM mapping, the connection is successful when the service is started, without errors, and the underlying stability is guaranteed.</a:t>
            </a:r>
            <a:endParaRPr lang="en-US" sz="1000" b="0" i="0" u="none" strike="noStrike" dirty="0">
              <a:solidFill>
                <a:srgbClr val="6B7280"/>
              </a:solidFill>
              <a:latin typeface="Noto Sans SC"/>
              <a:ea typeface="Noto Sans SC"/>
              <a:cs typeface="Noto Sans SC"/>
              <a:sym typeface="Noto Sans SC"/>
            </a:endParaRPr>
          </a:p>
        </p:txBody>
      </p:sp>
      <p:sp>
        <p:nvSpPr>
          <p:cNvPr id="15" name="AutoShape 15"/>
          <p:cNvSpPr/>
          <p:nvPr/>
        </p:nvSpPr>
        <p:spPr>
          <a:xfrm>
            <a:off x="6477000" y="3873500"/>
            <a:ext cx="4699000" cy="1079500"/>
          </a:xfrm>
          <a:prstGeom prst="roundRect">
            <a:avLst>
              <a:gd name="adj" fmla="val 9411"/>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7500" y="4127500"/>
            <a:ext cx="508000" cy="508000"/>
          </a:xfrm>
          <a:prstGeom prst="rect">
            <a:avLst/>
          </a:prstGeom>
        </p:spPr>
      </p:pic>
      <p:sp>
        <p:nvSpPr>
          <p:cNvPr id="17" name="AutoShape 17"/>
          <p:cNvSpPr/>
          <p:nvPr/>
        </p:nvSpPr>
        <p:spPr>
          <a:xfrm>
            <a:off x="7366000" y="4025900"/>
            <a:ext cx="3683000" cy="889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b="1" dirty="0">
                <a:solidFill>
                  <a:srgbClr val="1F2937"/>
                </a:solidFill>
                <a:latin typeface="Noto Sans SC"/>
                <a:ea typeface="Noto Sans SC"/>
                <a:cs typeface="Noto Sans SC"/>
                <a:sym typeface="Noto Sans SC"/>
              </a:rPr>
              <a:t>Two-way data interconnection between the front and back ends</a:t>
            </a:r>
          </a:p>
          <a:p>
            <a:pPr>
              <a:lnSpc>
                <a:spcPct val="125000"/>
              </a:lnSpc>
              <a:defRPr/>
            </a:pPr>
            <a:r>
              <a:rPr lang="en-US" sz="1000" dirty="0">
                <a:solidFill>
                  <a:srgbClr val="6B7280"/>
                </a:solidFill>
                <a:latin typeface="Noto Sans SC"/>
                <a:ea typeface="Noto Sans SC"/>
                <a:cs typeface="Noto Sans SC"/>
                <a:sym typeface="Noto Sans SC"/>
              </a:rPr>
              <a:t>The data format returned by the front-end form submission and the back-end interface is strictly consistent, enabling efficient serialization and deserialization of JSON data.</a:t>
            </a:r>
            <a:endParaRPr lang="en-US" sz="1000" b="0" i="0" u="none" strike="noStrike" dirty="0">
              <a:solidFill>
                <a:srgbClr val="6B7280"/>
              </a:solidFill>
              <a:latin typeface="Noto Sans SC"/>
              <a:ea typeface="Noto Sans SC"/>
              <a:cs typeface="Noto Sans SC"/>
              <a:sym typeface="Noto Sans SC"/>
            </a:endParaRPr>
          </a:p>
        </p:txBody>
      </p:sp>
      <p:sp>
        <p:nvSpPr>
          <p:cNvPr id="18" name="AutoShape 18"/>
          <p:cNvSpPr/>
          <p:nvPr/>
        </p:nvSpPr>
        <p:spPr>
          <a:xfrm>
            <a:off x="6477000" y="5080000"/>
            <a:ext cx="4699000" cy="1079500"/>
          </a:xfrm>
          <a:prstGeom prst="roundRect">
            <a:avLst>
              <a:gd name="adj" fmla="val 9411"/>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500" y="5334000"/>
            <a:ext cx="508000" cy="508000"/>
          </a:xfrm>
          <a:prstGeom prst="rect">
            <a:avLst/>
          </a:prstGeom>
        </p:spPr>
      </p:pic>
      <p:sp>
        <p:nvSpPr>
          <p:cNvPr id="20" name="AutoShape 20"/>
          <p:cNvSpPr/>
          <p:nvPr/>
        </p:nvSpPr>
        <p:spPr>
          <a:xfrm>
            <a:off x="7366000" y="5232400"/>
            <a:ext cx="3683000" cy="889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200" b="1" dirty="0">
                <a:solidFill>
                  <a:srgbClr val="1F2937"/>
                </a:solidFill>
                <a:latin typeface="Noto Sans SC"/>
                <a:ea typeface="Noto Sans SC"/>
                <a:cs typeface="Noto Sans SC"/>
                <a:sym typeface="Noto Sans SC"/>
              </a:rPr>
              <a:t>CRUD closes the loop of data management throughout the entire process</a:t>
            </a:r>
          </a:p>
          <a:p>
            <a:pPr>
              <a:lnSpc>
                <a:spcPct val="125000"/>
              </a:lnSpc>
              <a:defRPr/>
            </a:pPr>
            <a:r>
              <a:rPr lang="en-US" sz="1000" dirty="0">
                <a:solidFill>
                  <a:srgbClr val="6B7280"/>
                </a:solidFill>
                <a:latin typeface="Noto Sans SC"/>
                <a:ea typeface="Noto Sans SC"/>
                <a:cs typeface="Noto Sans SC"/>
                <a:sym typeface="Noto Sans SC"/>
              </a:rPr>
              <a:t>It fully supports data creation, reading, update, and delete, and real-time synchronization of data status.</a:t>
            </a:r>
            <a:endParaRPr lang="en-US" sz="1000" b="0" i="0" u="none" strike="noStrike" dirty="0">
              <a:solidFill>
                <a:srgbClr val="6B7280"/>
              </a:solidFill>
              <a:latin typeface="Noto Sans SC"/>
              <a:ea typeface="Noto Sans SC"/>
              <a:cs typeface="Noto Sans SC"/>
              <a:sym typeface="Noto Sans SC"/>
            </a:endParaRPr>
          </a:p>
        </p:txBody>
      </p:sp>
      <p:pic>
        <p:nvPicPr>
          <p:cNvPr id="22" name="图片 21">
            <a:extLst>
              <a:ext uri="{FF2B5EF4-FFF2-40B4-BE49-F238E27FC236}">
                <a16:creationId xmlns:a16="http://schemas.microsoft.com/office/drawing/2014/main" id="{5B958C00-D125-F7E8-3962-F7E9F6229962}"/>
              </a:ext>
            </a:extLst>
          </p:cNvPr>
          <p:cNvPicPr>
            <a:picLocks noChangeAspect="1"/>
          </p:cNvPicPr>
          <p:nvPr/>
        </p:nvPicPr>
        <p:blipFill>
          <a:blip r:embed="rId7"/>
          <a:stretch>
            <a:fillRect/>
          </a:stretch>
        </p:blipFill>
        <p:spPr>
          <a:xfrm>
            <a:off x="1143000" y="3059527"/>
            <a:ext cx="4233672" cy="493975"/>
          </a:xfrm>
          <a:prstGeom prst="rect">
            <a:avLst/>
          </a:prstGeom>
        </p:spPr>
      </p:pic>
      <p:pic>
        <p:nvPicPr>
          <p:cNvPr id="24" name="图片 23">
            <a:extLst>
              <a:ext uri="{FF2B5EF4-FFF2-40B4-BE49-F238E27FC236}">
                <a16:creationId xmlns:a16="http://schemas.microsoft.com/office/drawing/2014/main" id="{61B94031-0997-5D5A-FC58-C1D1421B9AC2}"/>
              </a:ext>
            </a:extLst>
          </p:cNvPr>
          <p:cNvPicPr>
            <a:picLocks noChangeAspect="1"/>
          </p:cNvPicPr>
          <p:nvPr/>
        </p:nvPicPr>
        <p:blipFill>
          <a:blip r:embed="rId8"/>
          <a:stretch>
            <a:fillRect/>
          </a:stretch>
        </p:blipFill>
        <p:spPr>
          <a:xfrm>
            <a:off x="1143000" y="3623439"/>
            <a:ext cx="4233672" cy="573446"/>
          </a:xfrm>
          <a:prstGeom prst="rect">
            <a:avLst/>
          </a:prstGeom>
        </p:spPr>
      </p:pic>
      <p:pic>
        <p:nvPicPr>
          <p:cNvPr id="26" name="图片 25">
            <a:extLst>
              <a:ext uri="{FF2B5EF4-FFF2-40B4-BE49-F238E27FC236}">
                <a16:creationId xmlns:a16="http://schemas.microsoft.com/office/drawing/2014/main" id="{6B177812-A8CF-E112-86CB-00969B271AF6}"/>
              </a:ext>
            </a:extLst>
          </p:cNvPr>
          <p:cNvPicPr>
            <a:picLocks noChangeAspect="1"/>
          </p:cNvPicPr>
          <p:nvPr/>
        </p:nvPicPr>
        <p:blipFill>
          <a:blip r:embed="rId9"/>
          <a:stretch>
            <a:fillRect/>
          </a:stretch>
        </p:blipFill>
        <p:spPr>
          <a:xfrm>
            <a:off x="1143000" y="4987816"/>
            <a:ext cx="4118072" cy="7499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dirty="0">
                <a:solidFill>
                  <a:srgbClr val="2DD4BF"/>
                </a:solidFill>
                <a:latin typeface="Noto Sans SC"/>
                <a:ea typeface="Noto Sans SC"/>
                <a:cs typeface="Noto Sans SC"/>
                <a:sym typeface="Noto Sans SC"/>
              </a:rPr>
              <a:t>05 </a:t>
            </a:r>
            <a:r>
              <a:rPr lang="en-US" sz="3200" b="1" dirty="0">
                <a:solidFill>
                  <a:schemeClr val="tx1"/>
                </a:solidFill>
                <a:latin typeface="Noto Sans SC"/>
                <a:ea typeface="Noto Sans SC"/>
                <a:cs typeface="Noto Sans SC"/>
                <a:sym typeface="Noto Sans SC"/>
              </a:rPr>
              <a:t>Project collaboration and additional contributions</a:t>
            </a:r>
            <a:endParaRPr lang="en-US" sz="1100" dirty="0">
              <a:solidFill>
                <a:schemeClr val="tx1"/>
              </a:solidFill>
            </a:endParaRPr>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5207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2286000"/>
            <a:ext cx="609600" cy="609600"/>
          </a:xfrm>
          <a:prstGeom prst="rect">
            <a:avLst/>
          </a:prstGeom>
        </p:spPr>
      </p:pic>
      <p:sp>
        <p:nvSpPr>
          <p:cNvPr id="7" name="AutoShape 7"/>
          <p:cNvSpPr/>
          <p:nvPr/>
        </p:nvSpPr>
        <p:spPr>
          <a:xfrm>
            <a:off x="2032000" y="2311400"/>
            <a:ext cx="3556000" cy="571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600" b="1">
                <a:solidFill>
                  <a:srgbClr val="1F2937"/>
                </a:solidFill>
                <a:latin typeface="Noto Sans SC"/>
                <a:ea typeface="Noto Sans SC"/>
                <a:cs typeface="Noto Sans SC"/>
                <a:sym typeface="Noto Sans SC"/>
              </a:rPr>
              <a:t>Completed independently: front-end and back-end joint debugging tests</a:t>
            </a:r>
            <a:endParaRPr lang="en-US" sz="1600" dirty="0"/>
          </a:p>
        </p:txBody>
      </p:sp>
      <p:sp>
        <p:nvSpPr>
          <p:cNvPr id="8" name="AutoShape 8"/>
          <p:cNvSpPr/>
          <p:nvPr/>
        </p:nvSpPr>
        <p:spPr>
          <a:xfrm>
            <a:off x="1143000" y="3302000"/>
            <a:ext cx="4445000" cy="2286000"/>
          </a:xfrm>
          <a:prstGeom prst="rect">
            <a:avLst/>
          </a:prstGeom>
          <a:noFill/>
          <a:ln w="12700" cap="flat" cmpd="sng">
            <a:noFill/>
            <a:prstDash val="solid"/>
            <a:round/>
          </a:ln>
        </p:spPr>
        <p:txBody>
          <a:bodyPr vert="horz" wrap="square" lIns="0" tIns="0" rIns="0" bIns="0" rtlCol="0" anchor="ctr" anchorCtr="0"/>
          <a:lstStyle/>
          <a:p>
            <a:pPr>
              <a:lnSpc>
                <a:spcPct val="133333"/>
              </a:lnSpc>
              <a:spcBef>
                <a:spcPts val="1000"/>
              </a:spcBef>
              <a:defRPr/>
            </a:pPr>
            <a:r>
              <a:rPr lang="en-US" dirty="0">
                <a:solidFill>
                  <a:schemeClr val="tx1"/>
                </a:solidFill>
                <a:latin typeface="Noto Sans SC"/>
                <a:ea typeface="Noto Sans SC"/>
                <a:cs typeface="Noto Sans SC"/>
                <a:sym typeface="Noto Sans SC"/>
              </a:rPr>
              <a:t>● Repeatedly perform functional testing and data debugging for online deployed projects, covering all core business processes.
●Proactively troubleshoot and fix potential vulnerabilities in code logic, data transmission, and interface docking to optimize performance.
●Verify and ensure that the system runs stably after the project is launched, and all functions can be used normally in the real environment.</a:t>
            </a:r>
            <a:endParaRPr lang="en-US" sz="1400" b="0" i="0" u="none" strike="noStrike" dirty="0">
              <a:solidFill>
                <a:schemeClr val="tx1"/>
              </a:solidFill>
              <a:latin typeface="Noto Sans SC"/>
              <a:ea typeface="Noto Sans SC"/>
              <a:cs typeface="Noto Sans SC"/>
              <a:sym typeface="Noto Sans SC"/>
            </a:endParaRPr>
          </a:p>
        </p:txBody>
      </p:sp>
      <p:sp>
        <p:nvSpPr>
          <p:cNvPr id="9" name="AutoShape 9"/>
          <p:cNvSpPr/>
          <p:nvPr/>
        </p:nvSpPr>
        <p:spPr>
          <a:xfrm>
            <a:off x="6223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223000" y="1778000"/>
            <a:ext cx="5207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srcRect/>
          <a:stretch>
            <a:fillRect/>
          </a:stretch>
        </p:blipFill>
        <p:spPr>
          <a:xfrm>
            <a:off x="6477000" y="2286000"/>
            <a:ext cx="1143000" cy="1143000"/>
          </a:xfrm>
          <a:prstGeom prst="rect">
            <a:avLst/>
          </a:prstGeom>
          <a:noFill/>
          <a:ln w="25400" cap="flat" cmpd="sng">
            <a:noFill/>
            <a:prstDash val="solid"/>
            <a:round/>
          </a:ln>
        </p:spPr>
      </p:pic>
      <p:sp>
        <p:nvSpPr>
          <p:cNvPr id="12" name="AutoShape 12"/>
          <p:cNvSpPr/>
          <p:nvPr/>
        </p:nvSpPr>
        <p:spPr>
          <a:xfrm>
            <a:off x="7874000" y="2349500"/>
            <a:ext cx="3175000" cy="1016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600" b="1">
                <a:solidFill>
                  <a:srgbClr val="1F2937"/>
                </a:solidFill>
                <a:latin typeface="Noto Sans SC"/>
                <a:ea typeface="Noto Sans SC"/>
                <a:cs typeface="Noto Sans SC"/>
                <a:sym typeface="Noto Sans SC"/>
              </a:rPr>
              <a:t>Assisting Team:</a:t>
            </a:r>
            <a:br>
              <a:rPr lang="en-US" sz="1600" b="1">
                <a:solidFill>
                  <a:srgbClr val="1F2937"/>
                </a:solidFill>
                <a:latin typeface="Noto Sans SC"/>
                <a:ea typeface="Noto Sans SC"/>
                <a:cs typeface="Noto Sans SC"/>
                <a:sym typeface="Noto Sans SC"/>
              </a:rPr>
            </a:br>
            <a:r>
              <a:rPr lang="en-US" sz="1600" b="1">
                <a:solidFill>
                  <a:srgbClr val="1F2937"/>
                </a:solidFill>
                <a:latin typeface="Noto Sans SC"/>
                <a:ea typeface="Noto Sans SC"/>
                <a:cs typeface="Noto Sans SC"/>
                <a:sym typeface="Noto Sans SC"/>
              </a:rPr>
              <a:t>The project is deployed online</a:t>
            </a:r>
            <a:endParaRPr lang="en-US" sz="1600" dirty="0"/>
          </a:p>
        </p:txBody>
      </p:sp>
      <p:sp>
        <p:nvSpPr>
          <p:cNvPr id="13" name="AutoShape 13"/>
          <p:cNvSpPr/>
          <p:nvPr/>
        </p:nvSpPr>
        <p:spPr>
          <a:xfrm>
            <a:off x="6604000" y="3683000"/>
            <a:ext cx="4445000" cy="1905000"/>
          </a:xfrm>
          <a:prstGeom prst="rect">
            <a:avLst/>
          </a:prstGeom>
          <a:noFill/>
          <a:ln w="12700" cap="flat" cmpd="sng">
            <a:noFill/>
            <a:prstDash val="solid"/>
            <a:round/>
          </a:ln>
        </p:spPr>
        <p:txBody>
          <a:bodyPr vert="horz" wrap="square" lIns="0" tIns="0" rIns="0" bIns="0" rtlCol="0" anchor="ctr" anchorCtr="0"/>
          <a:lstStyle/>
          <a:p>
            <a:pPr>
              <a:lnSpc>
                <a:spcPct val="133333"/>
              </a:lnSpc>
              <a:spcBef>
                <a:spcPts val="1000"/>
              </a:spcBef>
              <a:defRPr/>
            </a:pPr>
            <a:r>
              <a:rPr lang="en-US" dirty="0">
                <a:solidFill>
                  <a:srgbClr val="2DD4BF"/>
                </a:solidFill>
                <a:latin typeface="Noto Sans SC"/>
                <a:ea typeface="Noto Sans SC"/>
                <a:cs typeface="Noto Sans SC"/>
                <a:sym typeface="Noto Sans SC"/>
              </a:rPr>
              <a:t>✔ </a:t>
            </a:r>
            <a:r>
              <a:rPr lang="en-US" dirty="0">
                <a:solidFill>
                  <a:schemeClr val="tx1"/>
                </a:solidFill>
                <a:latin typeface="Noto Sans SC"/>
                <a:ea typeface="Noto Sans SC"/>
                <a:cs typeface="Noto Sans SC"/>
                <a:sym typeface="Noto Sans SC"/>
              </a:rPr>
              <a:t>Assist the team to complete the project deployment of the production environment and cooperate with the operation and maintenance personnel to configure the environment parameters.
✔ Perform full-link verification after going online to ensure that the online link of the project can be accessed normally and the system runs stably around the clock.</a:t>
            </a:r>
            <a:endParaRPr lang="en-US" sz="1400" b="0" i="0" u="none" strike="noStrike" dirty="0">
              <a:solidFill>
                <a:schemeClr val="tx1"/>
              </a:solidFill>
              <a:latin typeface="Noto Sans SC"/>
              <a:ea typeface="Noto Sans SC"/>
              <a:cs typeface="Noto Sans SC"/>
              <a:sym typeface="Noto Sans S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a:solidFill>
                  <a:srgbClr val="1F2937"/>
                </a:solidFill>
                <a:latin typeface="Noto Sans SC"/>
                <a:ea typeface="Noto Sans SC"/>
                <a:cs typeface="Noto Sans SC"/>
                <a:sym typeface="Noto Sans SC"/>
              </a:rPr>
              <a:t>Summary: Summary of personal contributions</a:t>
            </a:r>
            <a:endParaRPr lang="en-US" sz="1100" dirty="0"/>
          </a:p>
        </p:txBody>
      </p:sp>
      <p:sp>
        <p:nvSpPr>
          <p:cNvPr id="4" name="AutoShape 4"/>
          <p:cNvSpPr/>
          <p:nvPr/>
        </p:nvSpPr>
        <p:spPr>
          <a:xfrm>
            <a:off x="762000" y="1778000"/>
            <a:ext cx="5207000" cy="2222500"/>
          </a:xfrm>
          <a:prstGeom prst="roundRect">
            <a:avLst>
              <a:gd name="adj" fmla="val 6857"/>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222500"/>
            <a:ext cx="762000" cy="762000"/>
          </a:xfrm>
          <a:prstGeom prst="rect">
            <a:avLst/>
          </a:prstGeom>
        </p:spPr>
      </p:pic>
      <p:sp>
        <p:nvSpPr>
          <p:cNvPr id="6" name="AutoShape 6"/>
          <p:cNvSpPr/>
          <p:nvPr/>
        </p:nvSpPr>
        <p:spPr>
          <a:xfrm>
            <a:off x="2159000" y="2095500"/>
            <a:ext cx="3492500" cy="1587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dirty="0">
                <a:solidFill>
                  <a:srgbClr val="1F2937"/>
                </a:solidFill>
                <a:latin typeface="Noto Sans SC"/>
                <a:ea typeface="Noto Sans SC"/>
                <a:cs typeface="Noto Sans SC"/>
                <a:sym typeface="Noto Sans SC"/>
              </a:rPr>
              <a:t>Serious and responsible</a:t>
            </a:r>
          </a:p>
          <a:p>
            <a:pPr>
              <a:lnSpc>
                <a:spcPct val="125000"/>
              </a:lnSpc>
              <a:defRPr/>
            </a:pPr>
            <a:r>
              <a:rPr lang="en-US" dirty="0">
                <a:solidFill>
                  <a:srgbClr val="4B5563"/>
                </a:solidFill>
                <a:latin typeface="Noto Sans SC"/>
                <a:ea typeface="Noto Sans SC"/>
                <a:cs typeface="Noto Sans SC"/>
                <a:sym typeface="Noto Sans SC"/>
              </a:rPr>
              <a:t>Rigorous and meticulous, go all out for every task, conscientiously complete all the work for which you are personally responsible, and ensure the accuracy and high quality of task execution.</a:t>
            </a:r>
            <a:endParaRPr lang="en-US" sz="1400" b="0" i="0" u="none" strike="noStrike" dirty="0">
              <a:solidFill>
                <a:srgbClr val="4B5563"/>
              </a:solidFill>
              <a:latin typeface="Noto Sans SC"/>
              <a:ea typeface="Noto Sans SC"/>
              <a:cs typeface="Noto Sans SC"/>
              <a:sym typeface="Noto Sans SC"/>
            </a:endParaRPr>
          </a:p>
        </p:txBody>
      </p:sp>
      <p:sp>
        <p:nvSpPr>
          <p:cNvPr id="7" name="AutoShape 7"/>
          <p:cNvSpPr/>
          <p:nvPr/>
        </p:nvSpPr>
        <p:spPr>
          <a:xfrm>
            <a:off x="6223000" y="1778000"/>
            <a:ext cx="5207000" cy="2222500"/>
          </a:xfrm>
          <a:prstGeom prst="roundRect">
            <a:avLst>
              <a:gd name="adj" fmla="val 6857"/>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2222500"/>
            <a:ext cx="762000" cy="762000"/>
          </a:xfrm>
          <a:prstGeom prst="rect">
            <a:avLst/>
          </a:prstGeom>
        </p:spPr>
      </p:pic>
      <p:sp>
        <p:nvSpPr>
          <p:cNvPr id="9" name="AutoShape 9"/>
          <p:cNvSpPr/>
          <p:nvPr/>
        </p:nvSpPr>
        <p:spPr>
          <a:xfrm>
            <a:off x="7620000" y="2095500"/>
            <a:ext cx="3492500" cy="1587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dirty="0">
                <a:solidFill>
                  <a:srgbClr val="1F2937"/>
                </a:solidFill>
                <a:latin typeface="Noto Sans SC"/>
                <a:ea typeface="Noto Sans SC"/>
                <a:cs typeface="Noto Sans SC"/>
                <a:sym typeface="Noto Sans SC"/>
              </a:rPr>
              <a:t>Collaborate actively</a:t>
            </a:r>
          </a:p>
          <a:p>
            <a:pPr>
              <a:lnSpc>
                <a:spcPct val="125000"/>
              </a:lnSpc>
              <a:defRPr/>
            </a:pPr>
            <a:r>
              <a:rPr lang="en-US" dirty="0">
                <a:solidFill>
                  <a:srgbClr val="4B5563"/>
                </a:solidFill>
                <a:latin typeface="Noto Sans SC"/>
                <a:ea typeface="Noto Sans SC"/>
                <a:cs typeface="Noto Sans SC"/>
                <a:sym typeface="Noto Sans SC"/>
              </a:rPr>
              <a:t>Adhere to the spirit of teamwork, actively communicate, actively participate in team project collaboration, and cooperate efficiently with partners to jointly overcome technical difficulties and promote the project process.</a:t>
            </a:r>
            <a:endParaRPr lang="en-US" sz="1400" b="0" i="0" u="none" strike="noStrike" dirty="0">
              <a:solidFill>
                <a:srgbClr val="4B5563"/>
              </a:solidFill>
              <a:latin typeface="Noto Sans SC"/>
              <a:ea typeface="Noto Sans SC"/>
              <a:cs typeface="Noto Sans SC"/>
              <a:sym typeface="Noto Sans SC"/>
            </a:endParaRPr>
          </a:p>
        </p:txBody>
      </p:sp>
      <p:sp>
        <p:nvSpPr>
          <p:cNvPr id="10" name="AutoShape 10"/>
          <p:cNvSpPr/>
          <p:nvPr/>
        </p:nvSpPr>
        <p:spPr>
          <a:xfrm>
            <a:off x="762000" y="4254500"/>
            <a:ext cx="5207000" cy="2222500"/>
          </a:xfrm>
          <a:prstGeom prst="roundRect">
            <a:avLst>
              <a:gd name="adj" fmla="val 6857"/>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699000"/>
            <a:ext cx="762000" cy="762000"/>
          </a:xfrm>
          <a:prstGeom prst="rect">
            <a:avLst/>
          </a:prstGeom>
        </p:spPr>
      </p:pic>
      <p:sp>
        <p:nvSpPr>
          <p:cNvPr id="12" name="AutoShape 12"/>
          <p:cNvSpPr/>
          <p:nvPr/>
        </p:nvSpPr>
        <p:spPr>
          <a:xfrm>
            <a:off x="2159000" y="4572000"/>
            <a:ext cx="3492500" cy="1587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dirty="0">
                <a:solidFill>
                  <a:srgbClr val="1F2937"/>
                </a:solidFill>
                <a:latin typeface="Noto Sans SC"/>
                <a:ea typeface="Noto Sans SC"/>
                <a:cs typeface="Noto Sans SC"/>
                <a:sym typeface="Noto Sans SC"/>
              </a:rPr>
              <a:t>Successfully completed</a:t>
            </a:r>
          </a:p>
          <a:p>
            <a:pPr>
              <a:lnSpc>
                <a:spcPct val="125000"/>
              </a:lnSpc>
              <a:defRPr/>
            </a:pPr>
            <a:r>
              <a:rPr lang="en-US" dirty="0">
                <a:solidFill>
                  <a:srgbClr val="4B5563"/>
                </a:solidFill>
                <a:latin typeface="Noto Sans SC"/>
                <a:ea typeface="Noto Sans SC"/>
                <a:cs typeface="Noto Sans SC"/>
                <a:sym typeface="Noto Sans SC"/>
              </a:rPr>
              <a:t>All core tasks such as back-end code development, database architecture and management, system function debugging and testing were completed on schedule and with high quality, and the set goals of the project were achieved.</a:t>
            </a:r>
            <a:endParaRPr lang="en-US" sz="1400" b="0" i="0" u="none" strike="noStrike" dirty="0">
              <a:solidFill>
                <a:srgbClr val="4B5563"/>
              </a:solidFill>
              <a:latin typeface="Noto Sans SC"/>
              <a:ea typeface="Noto Sans SC"/>
              <a:cs typeface="Noto Sans SC"/>
              <a:sym typeface="Noto Sans SC"/>
            </a:endParaRPr>
          </a:p>
        </p:txBody>
      </p:sp>
      <p:sp>
        <p:nvSpPr>
          <p:cNvPr id="13" name="AutoShape 13"/>
          <p:cNvSpPr/>
          <p:nvPr/>
        </p:nvSpPr>
        <p:spPr>
          <a:xfrm>
            <a:off x="6223000" y="4254500"/>
            <a:ext cx="5207000" cy="2222500"/>
          </a:xfrm>
          <a:prstGeom prst="roundRect">
            <a:avLst>
              <a:gd name="adj" fmla="val 6857"/>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4699000"/>
            <a:ext cx="762000" cy="762000"/>
          </a:xfrm>
          <a:prstGeom prst="rect">
            <a:avLst/>
          </a:prstGeom>
        </p:spPr>
      </p:pic>
      <p:sp>
        <p:nvSpPr>
          <p:cNvPr id="15" name="AutoShape 15"/>
          <p:cNvSpPr/>
          <p:nvPr/>
        </p:nvSpPr>
        <p:spPr>
          <a:xfrm>
            <a:off x="7620000" y="4572000"/>
            <a:ext cx="3492500" cy="1587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dirty="0">
                <a:solidFill>
                  <a:srgbClr val="1F2937"/>
                </a:solidFill>
                <a:latin typeface="Noto Sans SC"/>
                <a:ea typeface="Noto Sans SC"/>
                <a:cs typeface="Noto Sans SC"/>
                <a:sym typeface="Noto Sans SC"/>
              </a:rPr>
              <a:t>Achievement display</a:t>
            </a:r>
          </a:p>
          <a:p>
            <a:pPr>
              <a:lnSpc>
                <a:spcPct val="125000"/>
              </a:lnSpc>
              <a:defRPr/>
            </a:pPr>
            <a:r>
              <a:rPr lang="en-US" dirty="0">
                <a:solidFill>
                  <a:srgbClr val="4B5563"/>
                </a:solidFill>
                <a:latin typeface="Noto Sans SC"/>
                <a:ea typeface="Noto Sans SC"/>
                <a:cs typeface="Noto Sans SC"/>
                <a:sym typeface="Noto Sans SC"/>
              </a:rPr>
              <a:t>All work results are presented in full and clear terms: the project deployment link allows you to view the effect, the full backend code logic via Eclipse, and the database design through XAMPP.</a:t>
            </a:r>
            <a:endParaRPr lang="en-US" sz="1400" b="0" i="0" u="none" strike="noStrike" dirty="0">
              <a:solidFill>
                <a:srgbClr val="4B5563"/>
              </a:solidFill>
              <a:latin typeface="Noto Sans SC"/>
              <a:ea typeface="Noto Sans SC"/>
              <a:cs typeface="Noto Sans SC"/>
              <a:sym typeface="Noto Sans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dirty="0">
                <a:solidFill>
                  <a:srgbClr val="2DD4BF"/>
                </a:solidFill>
                <a:latin typeface="Noto Sans SC"/>
                <a:ea typeface="Noto Sans SC"/>
                <a:cs typeface="Noto Sans SC"/>
                <a:sym typeface="Noto Sans SC"/>
              </a:rPr>
              <a:t>Thank You!</a:t>
            </a:r>
          </a:p>
          <a:p>
            <a:pPr indent="0" algn="ctr">
              <a:lnSpc>
                <a:spcPct val="125000"/>
              </a:lnSpc>
              <a:defRPr/>
            </a:pPr>
            <a:endParaRPr lang="en-US" sz="1100" dirty="0"/>
          </a:p>
        </p:txBody>
      </p:sp>
      <p:sp>
        <p:nvSpPr>
          <p:cNvPr id="5" name="AutoShape 5"/>
          <p:cNvSpPr/>
          <p:nvPr/>
        </p:nvSpPr>
        <p:spPr>
          <a:xfrm>
            <a:off x="0" y="3556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spc="300" dirty="0">
                <a:solidFill>
                  <a:srgbClr val="FFFFFF">
                    <a:alpha val="80000"/>
                  </a:srgbClr>
                </a:solidFill>
                <a:latin typeface="Noto Sans SC"/>
                <a:ea typeface="Noto Sans SC"/>
                <a:cs typeface="Noto Sans SC"/>
                <a:sym typeface="Noto Sans SC"/>
              </a:rPr>
              <a:t>THANK YOU FOR LISTENING</a:t>
            </a: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1320</Words>
  <Application>Microsoft Office PowerPoint</Application>
  <PresentationFormat>宽屏</PresentationFormat>
  <Paragraphs>128</Paragraphs>
  <Slides>12</Slides>
  <Notes>12</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12</vt:i4>
      </vt:variant>
    </vt:vector>
  </HeadingPairs>
  <TitlesOfParts>
    <vt:vector size="17" baseType="lpstr">
      <vt:lpstr>Noto Sans SC</vt:lpstr>
      <vt:lpstr>Arial</vt:lpstr>
      <vt:lpstr>Courier New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JOAQUIN ANTONIO CHEN</cp:lastModifiedBy>
  <cp:revision>8</cp:revision>
  <dcterms:modified xsi:type="dcterms:W3CDTF">2026-05-10T02:02:00Z</dcterms:modified>
</cp:coreProperties>
</file>